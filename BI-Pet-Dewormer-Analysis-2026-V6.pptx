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831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8312A"/>
                </a:solidFill>
                <a:latin typeface="Arial"/>
              </a:rPr>
              <a:t>品类结构占比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品类份额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98885"/>
              </a:solidFill>
              <a:effectLst/>
            </c:spPr>
          </c:dPt>
          <c:dPt>
            <c:idx val="1"/>
            <c:bubble3D val="0"/>
            <c:spPr>
              <a:solidFill>
                <a:srgbClr val="A3E5EE"/>
              </a:solidFill>
              <a:effectLst/>
            </c:spPr>
          </c:dPt>
          <c:dPt>
            <c:idx val="2"/>
            <c:bubble3D val="0"/>
            <c:spPr>
              <a:solidFill>
                <a:srgbClr val="00E47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体内驱虫</c:v>
                </c:pt>
                <c:pt idx="1">
                  <c:v>体外驱虫</c:v>
                </c:pt>
                <c:pt idx="2">
                  <c:v>内外同驱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35</c:v>
                </c:pt>
                <c:pt idx="2">
                  <c:v>35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宠物驱虫药市场竞争分析 2026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Dewormer Market Competitive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 | BI产品组合 | 竞品动态 | 渠道策略 |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数据截至：2026年5月（W21）  |  非官方披露数据仅供内部使用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宠物驱虫药市场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4.5-5亿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 USD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中国宠物驱虫药市场规模(2026)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Dewormer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市场年复合增速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Growth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1.26亿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城镇犬猫数量(2025)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Population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8660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线上销售占比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Share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240280"/>
          <a:ext cx="3108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3657600" y="2240280"/>
            <a:ext cx="175564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0" y="2240280"/>
            <a:ext cx="1755648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8" name="Text 25"/>
          <p:cNvSpPr/>
          <p:nvPr/>
        </p:nvSpPr>
        <p:spPr>
          <a:xfrm>
            <a:off x="3749040" y="22677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D1. 数量增长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749040" y="269748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猫增速~8%（远超狗~3%）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室内猫「不出门不驱虫」误区大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86400" y="2240280"/>
            <a:ext cx="175564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86400" y="2240280"/>
            <a:ext cx="1755648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2" name="Text 29"/>
          <p:cNvSpPr/>
          <p:nvPr/>
        </p:nvSpPr>
        <p:spPr>
          <a:xfrm>
            <a:off x="5577840" y="22677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D2. 单宠消费提升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577840" y="269748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预防意识崛起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愿为便捷安全付溢价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315200" y="2240280"/>
            <a:ext cx="175564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315200" y="2240280"/>
            <a:ext cx="1755648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6" name="Text 33"/>
          <p:cNvSpPr/>
          <p:nvPr/>
        </p:nvSpPr>
        <p:spPr>
          <a:xfrm>
            <a:off x="7406640" y="22677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D3. 驱虫频次提升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06640" y="269748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规律驱虫率40%→70%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数字提醒工具是杠杆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数据来源：前瞻研究院、《2026年中国宠物行业白皮书》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驱虫药产品组合 | BIAH Dewormer Product Portfolio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8892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NexGard Spectra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1005840" cy="21945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43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内外同驱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中国率先获批治疗犬疥螨、蠕形螨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8836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大宠爱(硕腾) 3.6亿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80467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04672"/>
            <a:ext cx="2788920" cy="7315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950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Broadkick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243584"/>
            <a:ext cx="1005840" cy="21945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243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| 滴剂 | 内外同驱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1517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猫用滴剂，内外同驱，使用便捷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18836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妙宠爱(硕腾) 1.8亿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121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1.08亿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72200" y="80467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804672"/>
            <a:ext cx="2788920" cy="7315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950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1243584"/>
            <a:ext cx="1005840" cy="21945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243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滴剂 | 体外驱虫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1517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滴剂外驱，持续1个月，经典品牌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18836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拜宠爽(拜耳) 1.2亿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121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20040" y="272491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724912"/>
            <a:ext cx="2788920" cy="73152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834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福味恩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783080" y="2871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Fivamix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163824"/>
            <a:ext cx="1005840" cy="219456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1638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体外驱虫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4381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口服外驱，牛肉味咀嚼片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38039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贝卫多(默沙东) 1.2亿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0.48亿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3246120" y="272491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2724912"/>
            <a:ext cx="2788920" cy="73152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2834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尼可信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9160" y="2871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3163824"/>
            <a:ext cx="1005840" cy="21945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46" name="Text 44"/>
          <p:cNvSpPr/>
          <p:nvPr/>
        </p:nvSpPr>
        <p:spPr>
          <a:xfrm>
            <a:off x="3383280" y="31638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体外驱虫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83280" y="34381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口服外驱，快速起效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83280" y="38039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欣宠克(礼蓝) ~0.6亿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4041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0.72亿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172200" y="2724912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72200" y="2724912"/>
            <a:ext cx="278892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2834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635240" y="2871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3163824"/>
            <a:ext cx="1005840" cy="21945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31638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体内驱虫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09360" y="34381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心丝虫+肠道寄生虫，口服内驱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9360" y="38039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拜宠清(拜耳) 1.8亿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09360" y="4041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0.60亿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驱虫药 | Zoetis Dewormer Portfolio ⭐ W21更新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FEE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3152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W21重大事件：5月7日 Zoetis下调2026年利润预测（宠物主削减开支、减少就诊），股价当日暴跌约21%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大宠爱年销(BI对比)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sales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1.8亿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妙宠爱年销(猫)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sales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驱虫药产品线 | Dewormer 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Simparica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内外同驱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异恶唑啉类，驱杀蜱虫+跳蚤，全球热销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01568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Simparica Trio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| 口服 | 内外同驱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685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犬心保升级版，猫用唯一内外同驱口服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447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1.8亿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59936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059936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105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Apoquel 奥拉替尼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41239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皮肤病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343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特应性皮炎止痒，非驱虫但为皮肤科核心产品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4105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全球爆款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286000"/>
            <a:ext cx="402336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74320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W21利润预警：宠物主削减开支，高端驱虫药面临降价压力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vs 超可信：BI超可信已率先获批治疗犬疥螨/蠕形螨，形成差异化竞争优势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妙宠爱（猫） vs 博来恩：猫用口服市场教育成本高，滴剂仍为猫主流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663440"/>
            <a:ext cx="8412480" cy="438912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663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洞察：Zoetis大宠爱全球最强，但超可信已在中国获疥螨/蠕形螨治疗适应症，形成BI差异化优势。消费降级对高端口服驱虫影响最大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数据来源：雪球网、前瞻网、Zoetis官方公告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竞品分析：礼蓝 &amp; 默沙东 驱虫药 | Elanco &amp; Merck Dewormer ⭐ W21更新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礼蓝动保 Elanco 驱虫药 ⭐ W21更新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54864" cy="59436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25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欣宠克 Simparica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体外驱虫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563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异恶唑啉类，蜱虫+跳蚤，与大宠爱同成分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~0.6亿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38528"/>
            <a:ext cx="54864" cy="59436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84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内外同驱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221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W21放量，礼蓝驱虫新主力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984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增长迅猛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96896"/>
            <a:ext cx="54864" cy="59436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| 口服 | 体内驱虫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快速杀蚤，撑杆跳类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642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4023360" cy="41148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91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2026：营收10.4亿美元(-3%)，但Zenrelia+Credelio Quattro放量，业绩超预期，股价大涨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804672"/>
            <a:ext cx="402336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04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默沙东动保 Merck 驱虫药 ⭐ W21更新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28016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280160"/>
            <a:ext cx="54864" cy="5943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3258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贝卫多 Bravecto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344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| 口服/滴剂 | 体外驱虫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1563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氟雷拉纳，12周长效，默沙东旗舰驱虫产品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1325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1.2亿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09160" y="193852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938528"/>
            <a:ext cx="54864" cy="5943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984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 vs 拜宠爽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2002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滴剂 | 体外驱虫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拜耳产品，默沙东渠道分销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1984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2596896"/>
            <a:ext cx="4023360" cy="41148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5968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W21新动态（5月12日）：默沙东研发（中国）与中国多家生物企业达成合作，拓展在华合作网络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 | Channel Strategy：外资品牌核心渠道 = 宠物医院（制高点）+ 电商快速增长（京东健康×Zoetis合作）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数据来源：Elanco Q1 2026财报电话会议、Merck官方公告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国内竞品动态：驱虫药 | Domestic Dewormer Competitors ⭐ W21更新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W21重磅：TOPS它博会（5月7-10日，上海）规模超10万m²，国产品牌集体亮相驱虫药市场，外资面临正面竞争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3891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海正动保（重点）| Haizhou Animal Health ⭐ W21更新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73936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28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 | 获越南官方批准出海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「不做低价卷王，走精品国药路线」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87168"/>
            <a:ext cx="54864" cy="6400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42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779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内驱虫药 | 与BI犬心保竞争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2025年估算销量~1.5亿，直逼BI犬心保0.6亿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6400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TOPS展出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493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携「预防-治疗-营养」全生命周期产品矩阵亮相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与天猫联手打造「国风」展台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13632"/>
            <a:ext cx="54864" cy="6400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9684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宠物赛道为核、海外市场为翼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目标：订单破30万，业绩向10亿元迈进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1298448"/>
            <a:ext cx="36576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其他国内竞品 | Other Domestic Players ⭐ W21更新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1773936"/>
            <a:ext cx="365760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⭐ W21新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0848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2026战略（5月14日）：巩固爆款产品优势，扩大终端覆盖，提升医院渠道占有率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「恩倍多」：与BI福来恩竞争的狗狗驱虫滴剂，估算销量~0.8亿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2980944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0" y="3035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273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发布狗狗驱虫滴剂产品「倍宠恩」，布局宠物驱虫药市场，价格竞争力强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3986784"/>
            <a:ext cx="3657600" cy="65836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2080" y="4023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 | Import Substitution Deepening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4261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国内驱虫药价格优势明显，电商渠道快速增长，外资品牌份额面临压缩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681728"/>
            <a:ext cx="4389120" cy="45720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681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BI对策：强化驱虫组合优势 + 超可信差异化适应症 + 备战618电商渠道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数据来源：海正动保官方信息、瑞普生物互动平台、前瞻网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竞品：驱虫药关键维度对比 | BI vs Competitors — Dewormer Comparison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92024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804672"/>
            <a:ext cx="173736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804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804672"/>
            <a:ext cx="164592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804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0" y="804672"/>
            <a:ext cx="173736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804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353312"/>
            <a:ext cx="14630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533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1353312"/>
            <a:ext cx="19202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35331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超可信(犬)、博来恩(猫)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福来恩、尼可信、福味恩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353312"/>
            <a:ext cx="173736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35331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大宠爱(犬)、妙宠爱(猫)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全球驱虫药龙头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1353312"/>
            <a:ext cx="164592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353312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欣宠克、Credelio Quattro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W21放量驱动增长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1353312"/>
            <a:ext cx="173736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35331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海乐旺(出海越南)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海乐妙(内驱，~1.5亿)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157984"/>
            <a:ext cx="1463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15798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差异化优势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0" y="2157984"/>
            <a:ext cx="19202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215798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超可信率先获批治疗犬疥螨/蠕形螨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博来恩猫用滴剂便捷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2157984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15798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大宠爱全球品牌认知度最高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妙宠爱猫口服唯一内外同驱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157984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15798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Quattro新放量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W21业绩超预期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0" y="2157984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15798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国产价格优势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天猫电商渠道深耕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962656"/>
            <a:ext cx="14630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96265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价格区间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Range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0" y="2962656"/>
            <a:ext cx="19202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29626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中高端（超可信1.44亿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福来恩1.44亿）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49040" y="2962656"/>
            <a:ext cx="173736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96265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高端（大宠爱3.6亿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价格最高）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0" y="2962656"/>
            <a:ext cx="164592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296265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中端（欣宠克~0.6亿）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2962656"/>
            <a:ext cx="173736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296265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中低端（海乐妙~1.5亿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价格竞争力强）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767328"/>
            <a:ext cx="1463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6732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0" y="3767328"/>
            <a:ext cx="1920240" cy="80467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7673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超可信疥螨适应症教育成本高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49040" y="3767328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3767328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W21利润预警+21%暴跌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消费降级冲击高端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0" y="3767328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37673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中国等新兴市场增长承压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产品线相对Zoetis较弱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132320" y="3767328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767328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高端突破难度大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品牌国际化经验不足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1353312"/>
            <a:ext cx="1463040" cy="321868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1353312"/>
            <a:ext cx="1463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数据来源：各公司官方公告、财务报告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驱虫药行业趋势与 BI 机遇 | Dewormer Industry Trends &amp; BI Opportunities ⭐ W21更新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消费降级冲击外资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Spending Cuts Hit Foreign Brands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宠物主削减开支，Zoetis W21股价暴跌21%为标志性事件。高端口服驱虫（大宠爱等）面临降价压力，滴剂性价比优势凸显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国产品替代加速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Compete Aggressively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海正海乐妙（~1.5亿）、瑞普恩倍多（~0.8亿）持续蚕食外资份额，国内品牌价格竞争力强，电商渠道占比55%+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剂型创新成竞争焦点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 Innovation Key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猫用滴剂为猫主流（不出门也需驱虫），口服内外同驱为未来趋势。BI博来恩（猫滴剂）有先发优势，超可信（犬）差异化适应症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电商渠道快速增长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Grows Rapidly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电商渠道占驱虫药销售55%+，国产品牌价格优势明显。618大促即将开始，BI需强化线上运营和内容营销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TOPS它博会风向标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 Expo Industry Barometer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5月7-10日上海超10万m²盛会，国产品牌集体亮相，BI「预防先行」主题参展，强化科学驱虫理念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国产品国际化破局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Go Global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海正「海乐旺」获越南批准上市，中国动保企业从「引进来」向「走出去」转型，国际竞争时代开启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行动建议：强化超可信疥螨/蠕形螨差异化 + 博来恩猫滴剂推广 + 备战618电商 + 强化「预防先行」品牌定位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BI宠物驱虫药市场竞争分析 2026</dc:title>
  <dc:subject>PptxGenJS Presentation</dc:subject>
  <dc:creator>BI China Pet Health</dc:creator>
  <cp:lastModifiedBy>BI China Pet Health</cp:lastModifiedBy>
  <cp:revision>1</cp:revision>
  <dcterms:created xsi:type="dcterms:W3CDTF">2026-05-15T14:05:06Z</dcterms:created>
  <dcterms:modified xsi:type="dcterms:W3CDTF">2026-05-15T14:05:06Z</dcterms:modified>
</cp:coreProperties>
</file>