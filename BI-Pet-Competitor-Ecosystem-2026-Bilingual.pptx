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31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3444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 宠物竞争者生态 2026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Boehringer Ingelheim Pet Competitor Ecosystem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2788920"/>
            <a:ext cx="3200400" cy="54864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971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市场趋势 · 竞品动态 · BI对策 · 行业洞察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E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最新情报：Q1全球财报 · 海正动保深度档案 · 行业标准实施 · 618备战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数据截至：2026年5月13日  |  非官方披露数据仅供内部使用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132320" y="4251960"/>
            <a:ext cx="1645920" cy="502920"/>
          </a:xfrm>
          <a:prstGeom prst="rect">
            <a:avLst/>
          </a:prstGeom>
          <a:solidFill>
            <a:srgbClr val="00E47C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132320" y="42519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 China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Health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全球动保 Q1 2026 成绩单 | Global Pet Pharma Q1 2026 Scorecard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2057400" cy="2834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04672"/>
            <a:ext cx="2057400" cy="457200"/>
          </a:xfrm>
          <a:prstGeom prst="rect">
            <a:avLst/>
          </a:prstGeom>
          <a:solidFill>
            <a:srgbClr val="A3E5EE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80467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硕腾 Zoetis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29844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23亿美元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11480" y="164592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+3%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19202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运营收入同比增3%，不及预期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20040" y="2240280"/>
            <a:ext cx="205740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228600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8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国际+17% · 诊断+10%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11480" y="283464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美国伴侣动物-11%，股价大跌10%+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514600" y="804672"/>
            <a:ext cx="2057400" cy="2834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514600" y="804672"/>
            <a:ext cx="2057400" cy="457200"/>
          </a:xfrm>
          <a:prstGeom prst="rect">
            <a:avLst/>
          </a:prstGeom>
          <a:solidFill>
            <a:srgbClr val="C5C3EE"/>
          </a:solidFill>
          <a:ln/>
        </p:spPr>
      </p:sp>
      <p:sp>
        <p:nvSpPr>
          <p:cNvPr id="16" name="Text 14"/>
          <p:cNvSpPr/>
          <p:nvPr/>
        </p:nvSpPr>
        <p:spPr>
          <a:xfrm>
            <a:off x="2606040" y="80467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礼蓝 Elanco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606040" y="129844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10.4亿美元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606040" y="164592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-3%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606040" y="19202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营收同比下降3%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514600" y="2240280"/>
            <a:ext cx="205740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1" name="Text 19"/>
          <p:cNvSpPr/>
          <p:nvPr/>
        </p:nvSpPr>
        <p:spPr>
          <a:xfrm>
            <a:off x="2606040" y="228600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8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Zenrelia/Credelio Quattro放量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606040" y="283464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新兴市场承压，净负债33亿美元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709160" y="804672"/>
            <a:ext cx="2057400" cy="2834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804672"/>
            <a:ext cx="2057400" cy="457200"/>
          </a:xfrm>
          <a:prstGeom prst="rect">
            <a:avLst/>
          </a:prstGeom>
          <a:solidFill>
            <a:srgbClr val="F58A68"/>
          </a:solidFill>
          <a:ln/>
        </p:spPr>
      </p:sp>
      <p:sp>
        <p:nvSpPr>
          <p:cNvPr id="25" name="Text 23"/>
          <p:cNvSpPr/>
          <p:nvPr/>
        </p:nvSpPr>
        <p:spPr>
          <a:xfrm>
            <a:off x="4800600" y="80467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默沙东 MSD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00600" y="129844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18亿美元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800600" y="164592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+13%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00600" y="19202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动物保健板块同比增13%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709160" y="2240280"/>
            <a:ext cx="205740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0" name="Text 28"/>
          <p:cNvSpPr/>
          <p:nvPr/>
        </p:nvSpPr>
        <p:spPr>
          <a:xfrm>
            <a:off x="4800600" y="228600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8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多元化组合稳健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800600" y="283464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宠物线相对平淡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903720" y="804672"/>
            <a:ext cx="2057400" cy="2834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903720" y="804672"/>
            <a:ext cx="2057400" cy="457200"/>
          </a:xfrm>
          <a:prstGeom prst="rect">
            <a:avLst/>
          </a:prstGeom>
          <a:solidFill>
            <a:srgbClr val="FFE667"/>
          </a:solidFill>
          <a:ln/>
        </p:spPr>
      </p:sp>
      <p:sp>
        <p:nvSpPr>
          <p:cNvPr id="34" name="Text 32"/>
          <p:cNvSpPr/>
          <p:nvPr/>
        </p:nvSpPr>
        <p:spPr>
          <a:xfrm>
            <a:off x="6995160" y="80467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维克 Virbac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995160" y="129844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3.84亿欧元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6995160" y="164592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+7.7%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995160" y="19202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约4.14亿美元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903720" y="2240280"/>
            <a:ext cx="205740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9" name="Text 37"/>
          <p:cNvSpPr/>
          <p:nvPr/>
        </p:nvSpPr>
        <p:spPr>
          <a:xfrm>
            <a:off x="6995160" y="228600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8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宠物+9.9% · 北美+20.7%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995160" y="283464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欧洲增长温和+2%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20040" y="3749040"/>
            <a:ext cx="2743200" cy="914400"/>
          </a:xfrm>
          <a:prstGeom prst="rect">
            <a:avLst/>
          </a:prstGeom>
          <a:solidFill>
            <a:srgbClr val="08312A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20040" y="3749040"/>
            <a:ext cx="365760" cy="914400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43" name="Text 41"/>
          <p:cNvSpPr/>
          <p:nvPr/>
        </p:nvSpPr>
        <p:spPr>
          <a:xfrm>
            <a:off x="320040" y="3749040"/>
            <a:ext cx="365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77240" y="38221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美国宠物市场消费降级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77240" y="409651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硕腾美国伴侣动物-11%，宠物主人价格敏感度上升，兽医就诊次数减少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3246120" y="3749040"/>
            <a:ext cx="2743200" cy="914400"/>
          </a:xfrm>
          <a:prstGeom prst="rect">
            <a:avLst/>
          </a:prstGeom>
          <a:solidFill>
            <a:srgbClr val="08312A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246120" y="3749040"/>
            <a:ext cx="365760" cy="914400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48" name="Text 46"/>
          <p:cNvSpPr/>
          <p:nvPr/>
        </p:nvSpPr>
        <p:spPr>
          <a:xfrm>
            <a:off x="3246120" y="3749040"/>
            <a:ext cx="365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3703320" y="38221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创新驱动成唯一确定性路径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3703320" y="409651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礼蓝Zenrelia/Credelio Quattro放量，硕腾皮肤科下滑11%迎竞争压力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172200" y="3749040"/>
            <a:ext cx="2743200" cy="914400"/>
          </a:xfrm>
          <a:prstGeom prst="rect">
            <a:avLst/>
          </a:prstGeom>
          <a:solidFill>
            <a:srgbClr val="08312A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172200" y="3749040"/>
            <a:ext cx="365760" cy="914400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53" name="Text 51"/>
          <p:cNvSpPr/>
          <p:nvPr/>
        </p:nvSpPr>
        <p:spPr>
          <a:xfrm>
            <a:off x="6172200" y="3749040"/>
            <a:ext cx="365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6629400" y="38221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中国成跨国必争高地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629400" y="409651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BI中国2025年在华销售额+8.6%，礼蓝/诗华将战略重心迁至上海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57" name="Text 55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数据来源：硕腾/礼蓝/默沙东/维克 Q1财报（2026年4-5月）  |  Data: May 2026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市场概览 | Market Overview — 猫狗增长趋势 &amp; 核心数据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20574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04672"/>
            <a:ext cx="54864" cy="1234440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87782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3,100+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2984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亿元 CNY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50876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China Pet Market Size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China Pet Market Size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14600" y="804672"/>
            <a:ext cx="20574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14600" y="804672"/>
            <a:ext cx="54864" cy="1234440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12" name="Text 10"/>
          <p:cNvSpPr/>
          <p:nvPr/>
        </p:nvSpPr>
        <p:spPr>
          <a:xfrm>
            <a:off x="2651760" y="87782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840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651760" y="12984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亿元 CNY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651760" y="150876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Medical Spending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Medical Consumption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09160" y="804672"/>
            <a:ext cx="20574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804672"/>
            <a:ext cx="54864" cy="1234440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87782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846320" y="12984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亿元 CNY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46320" y="150876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Pharma Market Size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Pharma Market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903720" y="804672"/>
            <a:ext cx="20574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903720" y="804672"/>
            <a:ext cx="54864" cy="1234440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22" name="Text 20"/>
          <p:cNvSpPr/>
          <p:nvPr/>
        </p:nvSpPr>
        <p:spPr>
          <a:xfrm>
            <a:off x="7040880" y="87782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7040880" y="12984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CAGR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040880" y="150876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Pharma Growth Rate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Pharma CAGR 2026-31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" y="2194560"/>
            <a:ext cx="4160520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2194560"/>
            <a:ext cx="4160520" cy="411480"/>
          </a:xfrm>
          <a:prstGeom prst="rect">
            <a:avLst/>
          </a:prstGeom>
          <a:solidFill>
            <a:srgbClr val="A3E5EE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219456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🐱 猫咪市场 | Cat Market — 最大增量来源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2679192"/>
            <a:ext cx="38862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Cats: 72M (CAGR ~8%), Surpassed Dogs as Largest Pet Category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&gt;70% Indoor Cats; "No Outdoor = No Deworming" Myth = Education Opportunity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Domestic FVRCP Vaccine Breakthrough: Haizheng "HaiMiaoDuo" Fills Domestic High-End Gap (Launched Feb 2025)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Topical Drops Outperform Oral; Easier Application = Higher Compliance for Cats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 for Cats: NexGard COMBO (1st &amp; Only Approved for Tapeworm), Broadkick (Cat)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63440" y="2194560"/>
            <a:ext cx="4160520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2194560"/>
            <a:ext cx="4160520" cy="411480"/>
          </a:xfrm>
          <a:prstGeom prst="rect">
            <a:avLst/>
          </a:prstGeom>
          <a:solidFill>
            <a:srgbClr val="F58A68"/>
          </a:solidFill>
          <a:ln/>
        </p:spPr>
      </p:sp>
      <p:sp>
        <p:nvSpPr>
          <p:cNvPr id="31" name="Text 29"/>
          <p:cNvSpPr/>
          <p:nvPr/>
        </p:nvSpPr>
        <p:spPr>
          <a:xfrm>
            <a:off x="4800600" y="219456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🐕 狗狗市场 | Dog Market — 高价值处方药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00600" y="2679192"/>
            <a:ext cx="38862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Dogs: 58M (CAGR ~3%); Higher Spending Power Than Cats (CNY 4,000-6,000/yr)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Outdoor Exposure → Higher Deworming Frequency (Ticks &amp; Heartworm Risk Areas)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NexGard: 1st in China Approved for Canine Sarcoptic &amp; Demodectic Mange (Isoxazoline Class)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Hospital + E-Commerce Dual Channels Deepen; Vet Recommendation is Key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 Products: NexGard, Frontline, Fronline Plus, NexGard Spectra, Sentinel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34" name="Text 32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数据来源：艾媒咨询、前瞻网、中国畜牧业协会宠物产业分会、派读宠物行业大数据平台  |  Data: May 2026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 宠物药品清单 — 非处方药 | BIAH Pet Product List (Non-Rx)</a:t>
            </a:r>
            <a:endParaRPr lang="en-US" sz="1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04672"/>
          <a:ext cx="85953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325880"/>
                <a:gridCol w="1508760"/>
                <a:gridCol w="1783080"/>
                <a:gridCol w="297180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Category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1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 Name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1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Indication &amp; Efficacy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1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Competitors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1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2025 Sales Comparison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12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831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驱虫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4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超可信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NexGard Spectra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Canine Deworming, Internal + External Parasites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Revolution (Zoetis)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Advocate (Bayer)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NexGard CNY 144M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Revolution CNY 360M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Advocate ~CNY 240M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831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驱虫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4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博来恩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Broadkick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Feline Deworming, Internal + External Parasites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Revolution Plus (Zoetis)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Broadkick CNY 108M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Revolution Plus CNY 180M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831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驱虫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4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福味恩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Canine Oral Deworming, External Parasites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Bravecto (Merck)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Simparica (Elanco)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Fronline Plus CNY 48M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Bravecto CNY 120M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Simparica ~CNY 60M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831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驱虫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4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尼可信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Canine Oral Deworming, External Parasites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Bravecto (Merck)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Simparica (Elanco)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NexGard Spectra CNY 72M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Bravecto CNY 120M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Simparica ~CNY 60M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831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驱虫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4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福来恩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Frontline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Canine Deworming, Topical External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Advantix (Bayer)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Enbanno (Ringpu)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Frontline CNY 144M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Advantix CNY 120M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Enbanno ~CNY 80M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831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驱虫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4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犬心保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Sentinel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Canine Deworming, Oral Internal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Drontal Plus (Bayer)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HaiLeMiao (Haizheng)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Changchongqing (Puante)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Sentinel CNY 60M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Drontal Plus CNY 180M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HaiLeMiao ~CNY 150M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7" name="Text 4"/>
          <p:cNvSpPr/>
          <p:nvPr/>
        </p:nvSpPr>
        <p:spPr>
          <a:xfrm>
            <a:off x="365760" y="4800600"/>
            <a:ext cx="7315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 Data based on market research &amp; industry estimates, not official disclosures | INTERNAL USE ONLY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7315200" y="4800600"/>
            <a:ext cx="14630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USE ONLY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竞品深度：硕腾 Zoetis | Q1 2026 — 行业龙头遭遇「倒春寒」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2057400" cy="868680"/>
          </a:xfrm>
          <a:prstGeom prst="rect">
            <a:avLst/>
          </a:prstGeom>
          <a:solidFill>
            <a:srgbClr val="08312A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29768" y="85039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~5,000亿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29768" y="121615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Revenue Reference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Revenue Ref.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514600" y="804672"/>
            <a:ext cx="2057400" cy="868680"/>
          </a:xfrm>
          <a:prstGeom prst="rect">
            <a:avLst/>
          </a:prstGeom>
          <a:solidFill>
            <a:srgbClr val="08312A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24328" y="85039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2.3B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2624328" y="121615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Revenue +3% YoY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(Below Expectations)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709160" y="804672"/>
            <a:ext cx="2057400" cy="868680"/>
          </a:xfrm>
          <a:prstGeom prst="rect">
            <a:avLst/>
          </a:prstGeom>
          <a:solidFill>
            <a:srgbClr val="08312A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18888" y="85039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-11%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818888" y="121615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Companion Animal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YoY Decline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903720" y="804672"/>
            <a:ext cx="2057400" cy="868680"/>
          </a:xfrm>
          <a:prstGeom prst="rect">
            <a:avLst/>
          </a:prstGeom>
          <a:solidFill>
            <a:srgbClr val="08312A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013448" y="85039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+17%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7013448" y="121615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International Growth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Growth Engine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20040" y="18288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China Strategy | China Market Approach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0040" y="2176272"/>
            <a:ext cx="42062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 on 5 Chronic Diseases: CKD, Oncology, Cardiology, Obesity, Anxiety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Deepen Pet Hospital Channel; Partner JD Health on Pet Anti-Infection Center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Diagnostics: Partnership with bioMérieux for Veterinary Clinical Microbiology Lab (Aug 2025)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Dermatology: Apoquel + Cytopoint Lead Globally; China Growth Slowing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1828800"/>
            <a:ext cx="4160520" cy="2148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1828800"/>
            <a:ext cx="4160520" cy="384048"/>
          </a:xfrm>
          <a:prstGeom prst="rect">
            <a:avLst/>
          </a:prstGeom>
          <a:solidFill>
            <a:srgbClr val="F58A68"/>
          </a:solidFill>
          <a:ln/>
        </p:spPr>
      </p:sp>
      <p:sp>
        <p:nvSpPr>
          <p:cNvPr id="21" name="Text 19"/>
          <p:cNvSpPr/>
          <p:nvPr/>
        </p:nvSpPr>
        <p:spPr>
          <a:xfrm>
            <a:off x="4800600" y="182880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市场挑战 | Market Challenges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00600" y="2286000"/>
            <a:ext cx="3886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Pet Market Slows; Intensifying Competition; Decelerating Growth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Stock Plunges &gt;10%; Pre-Market Dropped &gt;20%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China Premium Pet Pharma Faces Intense Budget Brand Competition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Ottava Surgical Robot Awaiting Regulatory Approval; Short-Term No Commercialization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4114800"/>
            <a:ext cx="8503920" cy="548640"/>
          </a:xfrm>
          <a:prstGeom prst="rect">
            <a:avLst/>
          </a:prstGeom>
          <a:solidFill>
            <a:srgbClr val="08312A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02920" y="411480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Insight: Zoetis Has High Barriers, High Margins, High Recurring Revenue; Short-Term Pressure; International + Diagnostics = Bright Spots; China Chronic Disease Strategy is Long-Term Key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数据来源：硕腾 Q1 2026财报（4月29日）、雪球网、前瞻网  |  Data: May 2026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竞品动态：礼蓝 &amp; 默沙东 &amp; 维克 | Elanco · Merck · Virbac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2743200" cy="384048"/>
          </a:xfrm>
          <a:prstGeom prst="rect">
            <a:avLst/>
          </a:prstGeom>
          <a:solidFill>
            <a:srgbClr val="A3E5E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0467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礼蓝 Elanco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261872"/>
            <a:ext cx="2743200" cy="2423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1325880"/>
            <a:ext cx="2560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Q1营收10.4亿美元（-3% YoY）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Emerging Markets (incl. China) Face Short-Term Pressure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Zenrelia已覆盖超50%美国诊所，份额+5pct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Credelio Quattro渗透40%美国诊所，份额飙升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53% Market Share in Covered Clinics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Full-Year Organic Growth Guidance Raised to 5%-7%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0" y="804672"/>
            <a:ext cx="2743200" cy="384048"/>
          </a:xfrm>
          <a:prstGeom prst="rect">
            <a:avLst/>
          </a:prstGeom>
          <a:solidFill>
            <a:srgbClr val="C5C3EE"/>
          </a:solidFill>
          <a:ln/>
        </p:spPr>
      </p:sp>
      <p:sp>
        <p:nvSpPr>
          <p:cNvPr id="10" name="Text 8"/>
          <p:cNvSpPr/>
          <p:nvPr/>
        </p:nvSpPr>
        <p:spPr>
          <a:xfrm>
            <a:off x="3337560" y="80467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默沙东 MSD Animal Health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1261872"/>
            <a:ext cx="2743200" cy="2423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91840" y="1325880"/>
            <a:ext cx="2560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Q1动物保健板块18亿美元（+13% YoY）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Livestock Business Stronger (Ruminants + Poultry + Pricing Power)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Ongoing Pet Hospital Development Forum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Pet Hospital Channel Layout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Nobivac Rabies Vaccine Strong in China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Bravecto (Fluralaner) Continues China Market Access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80760" y="804672"/>
            <a:ext cx="2743200" cy="384048"/>
          </a:xfrm>
          <a:prstGeom prst="rect">
            <a:avLst/>
          </a:prstGeom>
          <a:solidFill>
            <a:srgbClr val="FFE667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80467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Virbac ⭐ New Focus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80760" y="1261872"/>
            <a:ext cx="2743200" cy="2423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172200" y="1325880"/>
            <a:ext cx="2560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Revenue EUR 384M (~USD 414M, +7.7%)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Segment +9.9% YoY, Strongest Growth Engine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America +20.7% (at Constant FX)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"Supercharge" Platform Covers Full Pet Journey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 2025: Acquired Felimazole (Cat Hyperthyroidism)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 Global Expansion; Worth Continued Monitoring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3840480"/>
            <a:ext cx="8503920" cy="685800"/>
          </a:xfrm>
          <a:prstGeom prst="rect">
            <a:avLst/>
          </a:prstGeom>
          <a:solidFill>
            <a:srgbClr val="08312A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2920" y="384048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 Consensus: Pet Hospital (制高点 High Ground) + E-Commerce Fast Growing (JD Health×Zoetis; Deworming 55% E-Commerce)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数据来源：礼蓝/默沙东/维克 Q1财报、前瞻网、Elanco官方公告  |  Data: May 2026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国内竞品深度：海正动保 ⭐重点关注 | Haizhou Animal Health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4160520" cy="384048"/>
          </a:xfrm>
          <a:prstGeom prst="rect">
            <a:avLst/>
          </a:prstGeom>
          <a:solidFill>
            <a:srgbClr val="FFE667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04672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Strategy: From "Two Legs Walking" to "Pet-Core + Going Global"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261872"/>
            <a:ext cx="41605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1325880"/>
            <a:ext cx="393192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Scale: 25 Production Lines, ~50 Products on Market, 40 in R&amp;D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R&amp;D: 85% of New Projects Pet-Focused; 4-6 New Products Annually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 New Animal Drug Approvals in 15 Years (~10% of National Total); 15 Class 2 New Veterinary Drugs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 Pet Business = 55% of Revenue (Originally 2-3 Year Plan; Achieved Early)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Plan: 5-6 More New Products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Capacity: Fuyang (Chemical) + Yunnan (Vaccines/Biologics) + Taizhou (Prescription Food, 2027)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Internationalization: 2026 Target 3-5 Overseas Markets; Vietnam Approval = First Move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Going Global Pace: Belt &amp; Road First (SE Asia → Russia → S. America → Africa → Middle East → Europe/US)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63440" y="804672"/>
            <a:ext cx="4160520" cy="384048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10" name="Text 8"/>
          <p:cNvSpPr/>
          <p:nvPr/>
        </p:nvSpPr>
        <p:spPr>
          <a:xfrm>
            <a:off x="4800600" y="804672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核心产品矩阵 | Product Highlights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261872"/>
            <a:ext cx="4160520" cy="76809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261872"/>
            <a:ext cx="54864" cy="768096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13" name="Text 11"/>
          <p:cNvSpPr/>
          <p:nvPr/>
        </p:nvSpPr>
        <p:spPr>
          <a:xfrm>
            <a:off x="4828032" y="132588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海乐妙 🏆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828032" y="1581912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 Deworming: #1 Domestic Market Share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 Tax-Included Sales CNY 200M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~70M Cats Domestically; &lt;20% Penetration (Large Growth Room)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63440" y="2103120"/>
            <a:ext cx="4160520" cy="76809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2103120"/>
            <a:ext cx="54864" cy="768096"/>
          </a:xfrm>
          <a:prstGeom prst="rect">
            <a:avLst/>
          </a:prstGeom>
          <a:solidFill>
            <a:srgbClr val="A3E5EE"/>
          </a:solidFill>
          <a:ln/>
        </p:spPr>
      </p:sp>
      <p:sp>
        <p:nvSpPr>
          <p:cNvPr id="17" name="Text 15"/>
          <p:cNvSpPr/>
          <p:nvPr/>
        </p:nvSpPr>
        <p:spPr>
          <a:xfrm>
            <a:off x="4828032" y="216712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海妙哆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28032" y="242316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Domestic FVRCP Vaccine, Launched Feb 2025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Price Than Imports; Better Process Quality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Fills Domestic High-End Pet Vaccine Gap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663440" y="2944368"/>
            <a:ext cx="4160520" cy="76809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2944368"/>
            <a:ext cx="54864" cy="768096"/>
          </a:xfrm>
          <a:prstGeom prst="rect">
            <a:avLst/>
          </a:prstGeom>
          <a:solidFill>
            <a:srgbClr val="F58A68"/>
          </a:solidFill>
          <a:ln/>
        </p:spPr>
      </p:sp>
      <p:sp>
        <p:nvSpPr>
          <p:cNvPr id="21" name="Text 19"/>
          <p:cNvSpPr/>
          <p:nvPr/>
        </p:nvSpPr>
        <p:spPr>
          <a:xfrm>
            <a:off x="4828032" y="300837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海乐旺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28032" y="3264408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Deworming Product, Officially Approved in Vietnam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Successful Overseas Debut; International Strategy Breakthrough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663440" y="3785616"/>
            <a:ext cx="4160520" cy="76809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3785616"/>
            <a:ext cx="54864" cy="768096"/>
          </a:xfrm>
          <a:prstGeom prst="rect">
            <a:avLst/>
          </a:prstGeom>
          <a:solidFill>
            <a:srgbClr val="C5C3EE"/>
          </a:solidFill>
          <a:ln/>
        </p:spPr>
      </p:sp>
      <p:sp>
        <p:nvSpPr>
          <p:cNvPr id="25" name="Text 23"/>
          <p:cNvSpPr/>
          <p:nvPr/>
        </p:nvSpPr>
        <p:spPr>
          <a:xfrm>
            <a:off x="4828032" y="384962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Prescription Food (Drug-Food Linkage)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828032" y="4105656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Taizhou Base: Construction H2 2026; Production End 2027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Domestic Rx Food &lt;1%; Overseas 25%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Differentiated Positioning: Diagnosis — Treatment — Post-Surgery Recovery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20040" y="4645152"/>
            <a:ext cx="8503920" cy="384048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464515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对BI威胁：海乐妙直接冲击BI猫驱虫线；85%研发投入宠物+出海战略意味着全面竞争；「药粮联动」或重塑宠物健康解决方案格局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数据来源：全球宠业出海洞察×海正动保总经理访谈（2026年5月11日）  |  Data: May 2026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国内竞品动态 | Domestic Competitor Dynamics — 进口替代加速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41605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04672"/>
            <a:ext cx="4160520" cy="411480"/>
          </a:xfrm>
          <a:prstGeom prst="rect">
            <a:avLst/>
          </a:prstGeom>
          <a:solidFill>
            <a:srgbClr val="FFE667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804672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Haizheng Animal Health [⭐ Key Focus]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1280160"/>
            <a:ext cx="3886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HaiLeMiao: #1 Cat Deworming (CNY 200M/yr)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HaiMiaoDuo: Domestic FVRCP Vaccine Breakthrough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 R&amp;D in Pet Segment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Going Global: Vietnam Approved; 2026 Target 3-5 Overseas Markets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09160" y="804672"/>
            <a:ext cx="41605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804672"/>
            <a:ext cx="4160520" cy="411480"/>
          </a:xfrm>
          <a:prstGeom prst="rect">
            <a:avLst/>
          </a:prstGeom>
          <a:solidFill>
            <a:srgbClr val="A3E5EE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804672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Huizhong Animal Health [New Entrant]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846320" y="1280160"/>
            <a:ext cx="3886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Launched Dog Topical Dewormer "BeiChongEn"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Entering Pet Deworming Market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Rising Price Competition Pressure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2679192"/>
            <a:ext cx="41605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679192"/>
            <a:ext cx="4160520" cy="411480"/>
          </a:xfrm>
          <a:prstGeom prst="rect">
            <a:avLst/>
          </a:prstGeom>
          <a:solidFill>
            <a:srgbClr val="C5C3EE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679192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Jinhe Bio [Observation]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3154680"/>
            <a:ext cx="3886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 29, 2026 Investor Relations Event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 Pet Animal Health Business Developments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09160" y="2679192"/>
            <a:ext cx="41605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2679192"/>
            <a:ext cx="4160520" cy="411480"/>
          </a:xfrm>
          <a:prstGeom prst="rect">
            <a:avLst/>
          </a:prstGeom>
          <a:solidFill>
            <a:srgbClr val="F58A68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2679192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Ringpu Bio [Competitor]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46320" y="3154680"/>
            <a:ext cx="3886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Enbanno Dog Topical: Frontline Benchmark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Intense Price Competition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" y="4526280"/>
            <a:ext cx="8503920" cy="502920"/>
          </a:xfrm>
          <a:prstGeom prst="rect">
            <a:avLst/>
          </a:prstGeom>
          <a:solidFill>
            <a:srgbClr val="08312A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02920" y="452628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国产替代加速深化 | Import Substitution Deepening：猫三联疫苗已实现国产集体突破，向高端药品市场渗透；国产品牌性价比优势持续蚕食外资份额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数据来源：前瞻网、海正动保官方信息、惠中动保电商信息  |  Data: May 2026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 vs 竞品：关键维度对比 | BI vs Competitors — 5-Dimension Comparison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1463040" cy="50292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80467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维度 Dimension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828800" y="804672"/>
            <a:ext cx="1828800" cy="50292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0" y="80467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 Boehringer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0" y="804672"/>
            <a:ext cx="1737360" cy="50292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0" y="80467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Zoetis 硕腾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394960" y="804672"/>
            <a:ext cx="1600200" cy="50292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12" name="Text 10"/>
          <p:cNvSpPr/>
          <p:nvPr/>
        </p:nvSpPr>
        <p:spPr>
          <a:xfrm>
            <a:off x="5394960" y="80467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Elanco 礼蓝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995160" y="804672"/>
            <a:ext cx="1600200" cy="50292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14" name="Text 12"/>
          <p:cNvSpPr/>
          <p:nvPr/>
        </p:nvSpPr>
        <p:spPr>
          <a:xfrm>
            <a:off x="6995160" y="80467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Haizhou 海正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1307592"/>
            <a:ext cx="1463040" cy="621792"/>
          </a:xfrm>
          <a:prstGeom prst="rect">
            <a:avLst/>
          </a:prstGeom>
          <a:solidFill>
            <a:srgbClr val="F5FBF7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1307592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Products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Products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828800" y="1307592"/>
            <a:ext cx="1828800" cy="621792"/>
          </a:xfrm>
          <a:prstGeom prst="rect">
            <a:avLst/>
          </a:prstGeom>
          <a:solidFill>
            <a:srgbClr val="E8FFF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74520" y="1307592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超可信、NexGard COMBO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(Deworming + Anti-Parasite)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657600" y="1307592"/>
            <a:ext cx="1737360" cy="621792"/>
          </a:xfrm>
          <a:prstGeom prst="rect">
            <a:avLst/>
          </a:prstGeom>
          <a:solidFill>
            <a:srgbClr val="F5FBF7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03320" y="1307592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Deworming, Vaccines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High-Value Prescription Drugs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394960" y="1307592"/>
            <a:ext cx="1600200" cy="621792"/>
          </a:xfrm>
          <a:prstGeom prst="rect">
            <a:avLst/>
          </a:prstGeom>
          <a:solidFill>
            <a:srgbClr val="F5FBF7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40680" y="1307592"/>
            <a:ext cx="1508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Zenrelia、Credelio Quattro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(Innovation Deworming)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995160" y="1307592"/>
            <a:ext cx="1600200" cy="621792"/>
          </a:xfrm>
          <a:prstGeom prst="rect">
            <a:avLst/>
          </a:prstGeom>
          <a:solidFill>
            <a:srgbClr val="F5FBF7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40880" y="1307592"/>
            <a:ext cx="1508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HaiLeMiao (#1 Cat Deworming)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HaiMiaoDuo (Domestic FVRCP)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65760" y="1929384"/>
            <a:ext cx="14630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1929384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Edge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Edge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828800" y="1929384"/>
            <a:ext cx="1828800" cy="621792"/>
          </a:xfrm>
          <a:prstGeom prst="rect">
            <a:avLst/>
          </a:prstGeom>
          <a:solidFill>
            <a:srgbClr val="E8FFF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874520" y="1929384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Isoxazoline-Class Innovative Drugs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 Diabetes Oral (In Development)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657600" y="1929384"/>
            <a:ext cx="17373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03320" y="1929384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Ottava Surgical Robot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Chronic Disease Areas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394960" y="1929384"/>
            <a:ext cx="16002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40680" y="1929384"/>
            <a:ext cx="1508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JAK Inhibitor Zenrelia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Quattro Scaling Up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995160" y="1929384"/>
            <a:ext cx="16002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040880" y="1929384"/>
            <a:ext cx="1508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Domestic Vaccine Breakthrough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Self-Produced; 6A Standard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65760" y="2551176"/>
            <a:ext cx="1463040" cy="621792"/>
          </a:xfrm>
          <a:prstGeom prst="rect">
            <a:avLst/>
          </a:prstGeom>
          <a:solidFill>
            <a:srgbClr val="F5FBF7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2551176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渠道策略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1828800" y="2551176"/>
            <a:ext cx="1828800" cy="621792"/>
          </a:xfrm>
          <a:prstGeom prst="rect">
            <a:avLst/>
          </a:prstGeom>
          <a:solidFill>
            <a:srgbClr val="E8FFF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874520" y="2551176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宠物医院+电商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双渠道布局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657600" y="2551176"/>
            <a:ext cx="1737360" cy="621792"/>
          </a:xfrm>
          <a:prstGeom prst="rect">
            <a:avLst/>
          </a:prstGeom>
          <a:solidFill>
            <a:srgbClr val="F5FBF7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703320" y="2551176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医院为主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京东健康合作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394960" y="2551176"/>
            <a:ext cx="1600200" cy="621792"/>
          </a:xfrm>
          <a:prstGeom prst="rect">
            <a:avLst/>
          </a:prstGeom>
          <a:solidFill>
            <a:srgbClr val="F5FBF7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40680" y="2551176"/>
            <a:ext cx="1508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医院深耕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K+N物流合作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995160" y="2551176"/>
            <a:ext cx="1600200" cy="621792"/>
          </a:xfrm>
          <a:prstGeom prst="rect">
            <a:avLst/>
          </a:prstGeom>
          <a:solidFill>
            <a:srgbClr val="F5FBF7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040880" y="2551176"/>
            <a:ext cx="1508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电商增速80%+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医院线下布局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365760" y="3172968"/>
            <a:ext cx="14630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1480" y="3172968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市场定位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Positioning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1828800" y="3172968"/>
            <a:ext cx="1828800" cy="621792"/>
          </a:xfrm>
          <a:prstGeom prst="rect">
            <a:avLst/>
          </a:prstGeom>
          <a:solidFill>
            <a:srgbClr val="E8FFF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874520" y="3172968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高端驱虫/抗寄生虫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预防性用药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3657600" y="3172968"/>
            <a:ext cx="17373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703320" y="3172968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High-Value Prescription Drugs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慢性病长期管理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5394960" y="3172968"/>
            <a:ext cx="16002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440680" y="3172968"/>
            <a:ext cx="1508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预防+治疗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精准干预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6995160" y="3172968"/>
            <a:ext cx="16002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040880" y="3172968"/>
            <a:ext cx="1508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性价比+国产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进口替代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365760" y="3794760"/>
            <a:ext cx="1463040" cy="621792"/>
          </a:xfrm>
          <a:prstGeom prst="rect">
            <a:avLst/>
          </a:prstGeom>
          <a:solidFill>
            <a:srgbClr val="F5FBF7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11480" y="3794760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主要挑战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1828800" y="3794760"/>
            <a:ext cx="1828800" cy="621792"/>
          </a:xfrm>
          <a:prstGeom prst="rect">
            <a:avLst/>
          </a:prstGeom>
          <a:solidFill>
            <a:srgbClr val="E8FFF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874520" y="3794760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国产品性价比竞争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新品上市速度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3657600" y="3794760"/>
            <a:ext cx="1737360" cy="621792"/>
          </a:xfrm>
          <a:prstGeom prst="rect">
            <a:avLst/>
          </a:prstGeom>
          <a:solidFill>
            <a:srgbClr val="F5FBF7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703320" y="3794760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增速放缓-11%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市场竞争加剧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5394960" y="3794760"/>
            <a:ext cx="1600200" cy="621792"/>
          </a:xfrm>
          <a:prstGeom prst="rect">
            <a:avLst/>
          </a:prstGeom>
          <a:solidFill>
            <a:srgbClr val="F5FBF7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440680" y="3794760"/>
            <a:ext cx="1508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净负债33亿美元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新兴市场压力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6995160" y="3794760"/>
            <a:ext cx="1600200" cy="621792"/>
          </a:xfrm>
          <a:prstGeom prst="rect">
            <a:avLst/>
          </a:prstGeom>
          <a:solidFill>
            <a:srgbClr val="F5FBF7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040880" y="3794760"/>
            <a:ext cx="1508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高端突破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国际化经验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365760" y="1307592"/>
            <a:ext cx="1463040" cy="3108960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66" name="Text 64"/>
          <p:cNvSpPr/>
          <p:nvPr/>
        </p:nvSpPr>
        <p:spPr>
          <a:xfrm>
            <a:off x="365760" y="1307592"/>
            <a:ext cx="1463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优势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 Edge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 数字化差距分析 | Digital Gap Analysis — 竞品都在做，BI还没做</a:t>
            </a:r>
            <a:endParaRPr lang="en-US" sz="17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04672"/>
          <a:ext cx="84124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417320"/>
                <a:gridCol w="1417320"/>
                <a:gridCol w="1417320"/>
                <a:gridCol w="214884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功能 Feature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1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勃林格 BI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1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硕腾 Zoetis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1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拜耳 Bayer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1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差距 Gap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12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WeChat Mini Program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WeChat Mini Program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无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88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F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88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F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Completely Absent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EE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Deworming Reminder Tool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Deworming Reminder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无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88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F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88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F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66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 User Retention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EC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Online Vet Consultation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Online Vet Consultation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无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88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F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无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66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Poor Service Closure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EC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 Comparison Tool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Comparison Tool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无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88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F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无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66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Weak Decision Support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EC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宠物健康档案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Pet Health Record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无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88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F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无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66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用户忠诚度低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ECC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3730752"/>
            <a:ext cx="8412480" cy="658368"/>
          </a:xfrm>
          <a:prstGeom prst="rect">
            <a:avLst/>
          </a:prstGeom>
          <a:solidFill>
            <a:srgbClr val="08312A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3730752"/>
            <a:ext cx="73152" cy="658368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3730752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核心差距：勃林格在数字化宠主体验工具方面全面落后——微信小程序、驱虫提醒、在线问诊、产品对比、宠物健康档案五大功能全部缺失，导致用户粘性和服务闭环能力严重不足，在国产品牌性价比冲击下更容易失守市场份额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10" name="Text 7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注：以上分析基于公开产品信息和行业研究  |  Data based on public product info, May 2026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31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行业趋势与 BI 机遇 | 6 Key Industry Trends &amp; BI Opportunities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96112"/>
            <a:ext cx="4114800" cy="1115568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896112"/>
            <a:ext cx="457200" cy="1115568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896112"/>
            <a:ext cx="4572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95097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Substitution Accelerating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1243584"/>
            <a:ext cx="3429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7B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FVRCP Vaccine Breakthrough, Haizheng etc. Penetrating High-End; Foreign Brand Share Under Pressure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54880" y="896112"/>
            <a:ext cx="4114800" cy="1115568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754880" y="896112"/>
            <a:ext cx="457200" cy="1115568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896112"/>
            <a:ext cx="4572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303520" y="95097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Domestic Pet Pharma International Breakthrough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03520" y="1243584"/>
            <a:ext cx="3429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7B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Haizheng HaiLeWang Vietnam Approved; Chinese Animal Health Shifting from "Introduce" to "Go Global"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2157984"/>
            <a:ext cx="4114800" cy="1115568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65760" y="2157984"/>
            <a:ext cx="457200" cy="1115568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2157984"/>
            <a:ext cx="4572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14400" y="221284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Pet Market Consumer Downgrading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" y="2505456"/>
            <a:ext cx="3429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7B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Zoetis Q1 US Companion Animal -11%; Price Sensitivity Rising; Premium Pet Medical Demand Weak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54880" y="2157984"/>
            <a:ext cx="4114800" cy="1115568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4754880" y="2157984"/>
            <a:ext cx="457200" cy="1115568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2157984"/>
            <a:ext cx="4572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303520" y="221284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Innovation Drives Growth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03520" y="2505456"/>
            <a:ext cx="3429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7B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Elanco Zenrelia/Quattro Scale-Up = Only Certainty; Zoetis Bets on 5 Chronic Diseases; Innovation = Moat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3419856"/>
            <a:ext cx="4114800" cy="1115568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65760" y="3419856"/>
            <a:ext cx="457200" cy="1115568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3419856"/>
            <a:ext cx="4572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14400" y="347472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 Competition Diversifying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14400" y="3767328"/>
            <a:ext cx="3429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7B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E-Commerce = 55% Deworming Share (+20% YoY); Pet Hospital Still Foreign Stronghold; O2O Rising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54880" y="3419856"/>
            <a:ext cx="4114800" cy="1115568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754880" y="3419856"/>
            <a:ext cx="457200" cy="1115568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31" name="Text 29"/>
          <p:cNvSpPr/>
          <p:nvPr/>
        </p:nvSpPr>
        <p:spPr>
          <a:xfrm>
            <a:off x="4754880" y="3419856"/>
            <a:ext cx="4572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303520" y="347472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Standardization Accelerating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303520" y="3767328"/>
            <a:ext cx="3429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7B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Ministry of Agriculture Issues 4 Pet Industry Standards (Effective May 1, 2026); Compliance Benefits Leaders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65760" y="4681728"/>
            <a:ext cx="8412480" cy="438912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35" name="Text 33"/>
          <p:cNvSpPr/>
          <p:nvPr/>
        </p:nvSpPr>
        <p:spPr>
          <a:xfrm>
            <a:off x="548640" y="4681728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 Action: Strengthen Deworming Combo + Accelerate Cat Diabetes Pipeline + Fill Digital Gaps (Mini Program/Reminder/Consultation) + Deepen E-Commerce + Monitor Belt &amp; Road Opportunities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31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总结与建议 | Summary &amp; Recommendations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160520" cy="3611880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078992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竞争格局快照 | Competitive Landscape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463040"/>
            <a:ext cx="388620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Zoetis: Global Absolute Leader; Q1 International +17% but US -11%; Chronic Disease Long-Term Bet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Elanco: Q1 Revenue -3% but Innovation Products Scaling; Emerging Market Pressure; Full-Year Guidance Raised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Merck: Q1 +13%; Diversified Portfolio Stable; Hospital Channel Deepening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Virbac: Pet +9.9%; North America +20.7%; New Focus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Haizheng: Pet 55%; CNY 200M Single Product HaiLeMiao; 85% R&amp;D Pet; Overseas Expansion Accelerating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Domestic Brands Cost-Performance Eroding Foreign Share; Import Substitution Irreversible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663440" y="1005840"/>
            <a:ext cx="4160520" cy="3611880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800600" y="1078992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 行动建议 | Action Items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481328"/>
            <a:ext cx="411480" cy="457200"/>
          </a:xfrm>
          <a:prstGeom prst="rect">
            <a:avLst/>
          </a:prstGeom>
          <a:solidFill>
            <a:srgbClr val="F58A68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1481328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166360" y="148132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Accelerate Cat Diabetes &amp; Chronic Disease Pipeline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166360" y="170992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 Market Fastest Growing; NexGard COMBO First-Mover Advantage; Accelerate Chronic Disease Layout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663440" y="2011680"/>
            <a:ext cx="411480" cy="457200"/>
          </a:xfrm>
          <a:prstGeom prst="rect">
            <a:avLst/>
          </a:prstGeom>
          <a:solidFill>
            <a:srgbClr val="F58A68"/>
          </a:solidFill>
          <a:ln/>
        </p:spPr>
      </p:sp>
      <p:sp>
        <p:nvSpPr>
          <p:cNvPr id="14" name="Text 12"/>
          <p:cNvSpPr/>
          <p:nvPr/>
        </p:nvSpPr>
        <p:spPr>
          <a:xfrm>
            <a:off x="4663440" y="201168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166360" y="20116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 Digital Tool Gaps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166360" y="22402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 Program + Deworming Reminder + Online Consultation + Pet Profile; Narrow Competitor Experience Gap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663440" y="2542032"/>
            <a:ext cx="411480" cy="457200"/>
          </a:xfrm>
          <a:prstGeom prst="rect">
            <a:avLst/>
          </a:prstGeom>
          <a:solidFill>
            <a:srgbClr val="A3E5EE"/>
          </a:solidFill>
          <a:ln/>
        </p:spPr>
      </p:sp>
      <p:sp>
        <p:nvSpPr>
          <p:cNvPr id="18" name="Text 16"/>
          <p:cNvSpPr/>
          <p:nvPr/>
        </p:nvSpPr>
        <p:spPr>
          <a:xfrm>
            <a:off x="4663440" y="2542032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166360" y="254203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Strengthen Deworming Portfolio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166360" y="277063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NexGard + Broadkick + Frontline Combo; Counter HaiLeMiao CNY 200M Single Product Impact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663440" y="3072384"/>
            <a:ext cx="411480" cy="457200"/>
          </a:xfrm>
          <a:prstGeom prst="rect">
            <a:avLst/>
          </a:prstGeom>
          <a:solidFill>
            <a:srgbClr val="A3E5EE"/>
          </a:solidFill>
          <a:ln/>
        </p:spPr>
      </p:sp>
      <p:sp>
        <p:nvSpPr>
          <p:cNvPr id="22" name="Text 20"/>
          <p:cNvSpPr/>
          <p:nvPr/>
        </p:nvSpPr>
        <p:spPr>
          <a:xfrm>
            <a:off x="4663440" y="3072384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166360" y="3072384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E-Commerce Refined Operations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166360" y="3300984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Deworming 55% E-Commerce +20%; JD Health/Tmall Content Marketing + Search Positioning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663440" y="3602736"/>
            <a:ext cx="411480" cy="457200"/>
          </a:xfrm>
          <a:prstGeom prst="rect">
            <a:avLst/>
          </a:prstGeom>
          <a:solidFill>
            <a:srgbClr val="A3E5EE"/>
          </a:solidFill>
          <a:ln/>
        </p:spPr>
      </p:sp>
      <p:sp>
        <p:nvSpPr>
          <p:cNvPr id="26" name="Text 24"/>
          <p:cNvSpPr/>
          <p:nvPr/>
        </p:nvSpPr>
        <p:spPr>
          <a:xfrm>
            <a:off x="4663440" y="3602736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166360" y="3602736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Belt &amp; Road Going Global Opportunities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166360" y="3831336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Haizheng Vietnam Approved; BI International Must Assess Belt &amp; Road Market Entry Strategy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663440" y="4133088"/>
            <a:ext cx="411480" cy="457200"/>
          </a:xfrm>
          <a:prstGeom prst="rect">
            <a:avLst/>
          </a:prstGeom>
          <a:solidFill>
            <a:srgbClr val="A3E5EE"/>
          </a:solidFill>
          <a:ln/>
        </p:spPr>
      </p:sp>
      <p:sp>
        <p:nvSpPr>
          <p:cNvPr id="30" name="Text 28"/>
          <p:cNvSpPr/>
          <p:nvPr/>
        </p:nvSpPr>
        <p:spPr>
          <a:xfrm>
            <a:off x="4663440" y="4133088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166360" y="413308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in Industry Standard Compliance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166360" y="436168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Standards Effective May 1; Compliant Leaders Benefit; First-Mover Layout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65760" y="4681728"/>
            <a:ext cx="8412480" cy="438912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34" name="Text 32"/>
          <p:cNvSpPr/>
          <p:nvPr/>
        </p:nvSpPr>
        <p:spPr>
          <a:xfrm>
            <a:off x="548640" y="4681728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数据截至：2026年5月13日  |  非官方披露数据仅供内部使用  |  INTERNAL USE ONLY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 Pet Competitive Ecosystem 2026</dc:title>
  <dc:subject>PptxGenJS Presentation</dc:subject>
  <dc:creator>BI China Pet Health</dc:creator>
  <cp:lastModifiedBy>BI China Pet Health</cp:lastModifiedBy>
  <cp:revision>1</cp:revision>
  <dcterms:created xsi:type="dcterms:W3CDTF">2026-05-13T10:28:20Z</dcterms:created>
  <dcterms:modified xsi:type="dcterms:W3CDTF">2026-05-13T10:28:20Z</dcterms:modified>
</cp:coreProperties>
</file>