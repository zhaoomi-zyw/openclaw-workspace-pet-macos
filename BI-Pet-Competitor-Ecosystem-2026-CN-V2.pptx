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宠物竞争者生态 2026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Boehringer Ingelheim Pet Competitor Ecosystem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3200400" cy="54864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市场趋势 · 竞品动态 · BI对策 · 行业洞察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E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最新情报：Q1全球财报 · 海正动保深度档案 · 行业标准实施 · 618备战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数据截至：2026年5月13日  |  非官方披露数据仅供内部使用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132320" y="4251960"/>
            <a:ext cx="1645920" cy="502920"/>
          </a:xfrm>
          <a:prstGeom prst="rect">
            <a:avLst/>
          </a:prstGeom>
          <a:solidFill>
            <a:srgbClr val="00E47C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32320" y="4251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China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Health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全球动保 Q1 2026 成绩单 | Global Pet Pharma Q1 2026 Scorecard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205740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 Zoetis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23亿美元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运营收入同比增3%，不及预期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国际+17% · 诊断+10%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1148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美国伴侣动物-11%，股价大跌10%+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1460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14600" y="804672"/>
            <a:ext cx="2057400" cy="457200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6" name="Text 14"/>
          <p:cNvSpPr/>
          <p:nvPr/>
        </p:nvSpPr>
        <p:spPr>
          <a:xfrm>
            <a:off x="260604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 Elanco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0604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10.4亿美元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0604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0604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营收同比下降3%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51460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21" name="Text 19"/>
          <p:cNvSpPr/>
          <p:nvPr/>
        </p:nvSpPr>
        <p:spPr>
          <a:xfrm>
            <a:off x="260604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Zenrelia/Credelio Quattro放量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60604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新兴市场承压，净负债33亿美元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09160" y="804672"/>
            <a:ext cx="205740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 MSD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0060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18亿美元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80060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0060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动物保健板块同比增13%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0916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多元化组合稳健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0060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宠物线相对平淡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903720" y="804672"/>
            <a:ext cx="2057400" cy="2834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903720" y="804672"/>
            <a:ext cx="2057400" cy="45720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34" name="Text 32"/>
          <p:cNvSpPr/>
          <p:nvPr/>
        </p:nvSpPr>
        <p:spPr>
          <a:xfrm>
            <a:off x="6995160" y="80467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95160" y="129844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3.84亿欧元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95160" y="164592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+7.7%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95160" y="19202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约4.14亿美元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903720" y="2240280"/>
            <a:ext cx="2057400" cy="9144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39" name="Text 37"/>
          <p:cNvSpPr/>
          <p:nvPr/>
        </p:nvSpPr>
        <p:spPr>
          <a:xfrm>
            <a:off x="6995160" y="22860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0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宠物+9.9% · 北美+20.7%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995160" y="28346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欧洲增长温和+2%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20040" y="37490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20040" y="37490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7490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7724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美国宠物市场消费降级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7240" y="4096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硕腾美国伴侣动物-11%，宠物主人价格敏感度上升，兽医就诊次数减少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246120" y="37490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246120" y="37490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8" name="Text 46"/>
          <p:cNvSpPr/>
          <p:nvPr/>
        </p:nvSpPr>
        <p:spPr>
          <a:xfrm>
            <a:off x="3246120" y="37490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370332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创新驱动成唯一确定性路径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703320" y="4096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礼蓝Zenrelia/Credelio Quattro放量，硕腾皮肤科下滑11%迎竞争压力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72200" y="3749040"/>
            <a:ext cx="2743200" cy="9144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172200" y="3749040"/>
            <a:ext cx="365760" cy="91440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53" name="Text 51"/>
          <p:cNvSpPr/>
          <p:nvPr/>
        </p:nvSpPr>
        <p:spPr>
          <a:xfrm>
            <a:off x="6172200" y="37490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629400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中国成跨国必争高地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29400" y="409651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BI中国2025年在华销售额+8.6%，礼蓝/诗华将战略重心迁至上海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数据来源：硕腾/礼蓝/默沙东 Q1财报（2026年4-5月）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市场概览 | Market Overview — 猫狗增长趋势 &amp; 核心数据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3,100+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中国宠物市场规模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Pet Market Size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1460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1460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65176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宠物医疗消费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Medical Consumption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0916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84632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亿元 CNY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宠物药品市场规模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Pharma Market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903720" y="804672"/>
            <a:ext cx="205740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03720" y="804672"/>
            <a:ext cx="54864" cy="123444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87782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040880" y="12984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40880" y="150876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宠物药品市场增速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 Pharma CAGR 2026-31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" y="2194560"/>
            <a:ext cx="41605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2194560"/>
            <a:ext cx="4160520" cy="41148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21945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🐱 猫咪市场 | Cat Market — 最大增量来源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7200" y="2679192"/>
            <a:ext cx="3886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猫数量7,200万只，增速CAGR ~8%，已超越狗成为最大宠物品类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室内猫比例&gt;70%，"不出门不驱虫"误区→最大认知缺口，教育空间大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国产猫三联疫苗突破：海正「海妙哆」填补国产高端空白，2025年2月上市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猫用滴剂最优剂型（优于口服），猫咪喂药难→滴剂依从性更高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BI猫用：NexGard COMBO（首个且唯一获批治疗绦虫），博来恩（猫用）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194560"/>
            <a:ext cx="4160520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194560"/>
            <a:ext cx="4160520" cy="41148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31" name="Text 29"/>
          <p:cNvSpPr/>
          <p:nvPr/>
        </p:nvSpPr>
        <p:spPr>
          <a:xfrm>
            <a:off x="4800600" y="21945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🐕 狗狗市场 | Dog Market — 高价值处方药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00600" y="2679192"/>
            <a:ext cx="3886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狗数量5,800万只，增速CAGR ~3%，整体消费能力高于猫（年消费4,000-6,000元）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户外暴露场景多，驱虫频次需求更高（蜱虫、心丝虫高发区）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超可信中国率先获批治疗犬疥螨、蠕形螨（异恶唑啉类）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宠物医院+电商双渠道布局深化，兽医推荐影响力大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BI产品：超可信、福来恩、福味恩、尼可信、犬心保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数据来源：艾媒咨询、前瞻网、中国畜牧业协会宠物产业分会、派读宠物行业大数据平台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宠物药品清单 — 非处方药 | BIAH Pet Product List (Non-Rx)</a:t>
            </a:r>
            <a:endParaRPr lang="en-US" sz="1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25880"/>
                <a:gridCol w="1508760"/>
                <a:gridCol w="1783080"/>
                <a:gridCol w="29718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药品类别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药品名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客户及疗效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竞争对手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2025销量对比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超可信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NexGard Spectra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狗驱虫，内外同驱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大宠爱（硕腾）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爱沃克（拜耳）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超可信 1.44亿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大宠爱 3.6亿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爱沃克 ~2.4亿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博来恩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Broadkick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猫驱虫，内外同驱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妙宠爱（硕腾）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博来恩 1.08亿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妙宠爱 1.8亿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福味恩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贝卫多（默沙东）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欣宠克（礼蓝）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福味恩 0.48亿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 ~0.6亿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尼可信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贝卫多（默沙东）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欣宠克（礼蓝）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尼可信 0.72亿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贝卫多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欣宠克 ~0.6亿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福来恩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Frontline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狗驱虫，滴剂外驱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拜宠爽（拜耳）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恩倍多（瑞普生物）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福来恩 1.44亿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拜宠爽 1.2亿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恩倍多 ~0.8亿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F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831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47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犬心保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Sentinel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狗驱虫，口服内驱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拜宠清（拜耳）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海乐妙（海正）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肠虫清（普安特）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犬心保 0.60亿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拜宠清 1.8亿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2D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海乐妙 ~1.5亿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800600"/>
            <a:ext cx="7315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注：以上数据基于市场调研和行业估算，非官方披露数据  |  Data based on market research estimates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315200" y="4800600"/>
            <a:ext cx="14630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USE ONLY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竞品深度：硕腾 Zoetis | Q1 2026 — 行业龙头遭遇「倒春寒」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976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~5,000亿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2976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全球年营收参考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Revenue Ref.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51460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2432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23亿美元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62432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Q1营收 · +3% YoY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（不及预期）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1888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-11%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81888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美国伴侣动物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同比下滑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903720" y="804672"/>
            <a:ext cx="2057400" cy="86868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013448" y="85039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+17%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013448" y="121615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国际市场增长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关键引擎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20040" y="1828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中国市场策略 | China Strategy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" y="2176272"/>
            <a:ext cx="4206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押注宠物五大慢性病：慢性肾病、肿瘤学、心脏病学、肥胖症、焦虑症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持续深耕宠物医院渠道，携手京东健康打造宠物抗感染中心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诊断领域：与生物梅里埃合作建立宠物临床微生物学示范实验室（2025年8月）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皮肤病产品：Apoquel（奥拉替尼）+ Cytopoint（洛吉司亭）全球领先，中国增速放缓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1828800"/>
            <a:ext cx="416052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1828800"/>
            <a:ext cx="4160520" cy="384048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1828800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市场挑战 | Market Challenges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00600" y="2286000"/>
            <a:ext cx="3886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美国宠物市场放缓，竞争加剧，增长降速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Q1股价大跌逾10%，盘前一度跌超20%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中国高价值宠物药市场面临国产品牌性价比优势激烈竞争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Ottava手术机器人等待监管批准，短期无法商业化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4114800"/>
            <a:ext cx="8503920" cy="54864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洞察：硕腾高壁垒、高毛利、高复购，但短期面临增速压力；国际+诊断是亮点，中国市场慢性病布局为长期关键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数据来源：硕腾 Q1 2026财报（4月29日）、雪球网、前瞻网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竞品动态：礼蓝 &amp; 默沙东 | Elanco · Merck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2743200" cy="384048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04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 Elanco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261872"/>
            <a:ext cx="274320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32588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Q1营收10.4亿美元（-3% YoY）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新兴市场（中国等）面临短期压力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Zenrelia已覆盖超50%美国诊所，份额+5pct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Credelio Quattro渗透40%美国诊所，份额飙升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在已覆盖诊所中市场份额高达53%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全年有机增长指引上调至5%-7%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00400" y="804672"/>
            <a:ext cx="2743200" cy="384048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804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 MSD Animal Health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261872"/>
            <a:ext cx="274320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132588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Q1动物保健板块18亿美元（+13% YoY）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牲畜业务更强（反刍动物+家禽+定价优势）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持续举办「宠物医院发展论坛」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深度布局宠物医院渠道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Nobivac狂犬病疫苗中国强劲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Bravecto（氟雷拉纳）持续布局中国市场准入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80760" y="804672"/>
            <a:ext cx="2743200" cy="38404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80467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80760" y="1261872"/>
            <a:ext cx="2743200" cy="2423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72200" y="132588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Q1营收3.84亿欧元（~4.14亿美元，+7.7%）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宠物板块同比+9.9%，最强增长引擎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北美地区+20.7%（按固定汇率）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"Supercharge"平台涵盖宠物全流程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2025年12月收购猫甲亢药Thyronorm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全球市场快速扩张，值得持续关注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840480"/>
            <a:ext cx="8503920" cy="68580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384048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渠道策略共识 | Channel Strategy：外资品牌核心渠道 = 宠物医院（制高点）+ 电商快速增长（京东健康×硕腾合作；驱虫药电商55%份额）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数据来源：礼蓝/默沙东 Q1财报、前瞻网、Elanco官方公告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国内竞品深度：海正动保 ⭐重点关注 | Haizhou Animal Health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384048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0467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战略定位：从「两条腿走路」到「宠物为核心+出海」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61872"/>
            <a:ext cx="41605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32588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企业规模：25条生产线，近50款在售产品，40个在研产品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研发实力：85%新项目集中在宠物，每年4-6款新品上市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过去15年47个新兽药批文（占全国近10%），15个国家二类新兽药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2025年宠物业务占比55%（原计划2-3年实现，已提前完成）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2026年计划再推5-6个新品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产能布局：富阳（化药）+ 云南（疫苗/大分子）+ 台州（处方粮，2027投产）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国际化：2026年目标3-5个海外市场商业化；越南获批为出海首秀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出海节奏：一带一路优先（东南亚→俄罗斯→南美→非洲→中东→欧美）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804672"/>
            <a:ext cx="4160520" cy="38404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804672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核心产品矩阵 | Product Highlights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261872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261872"/>
            <a:ext cx="54864" cy="768096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3" name="Text 11"/>
          <p:cNvSpPr/>
          <p:nvPr/>
        </p:nvSpPr>
        <p:spPr>
          <a:xfrm>
            <a:off x="4828032" y="132588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海乐妙 🏆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28032" y="158191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猫驱虫药，国内市占率第一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2025年含税销售额2亿元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国内猫约7000万只，渗透率&lt;20%（增长空间大）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2103120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2103120"/>
            <a:ext cx="54864" cy="768096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7" name="Text 15"/>
          <p:cNvSpPr/>
          <p:nvPr/>
        </p:nvSpPr>
        <p:spPr>
          <a:xfrm>
            <a:off x="4828032" y="2167128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海妙哆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828032" y="24231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国产猫三联疫苗，2025年2月上市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定价比进口品牌还高，工艺更好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填补国产高端宠物疫苗空白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663440" y="2944368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2944368"/>
            <a:ext cx="54864" cy="768096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21" name="Text 19"/>
          <p:cNvSpPr/>
          <p:nvPr/>
        </p:nvSpPr>
        <p:spPr>
          <a:xfrm>
            <a:off x="4828032" y="300837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海乐旺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8032" y="3264408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驱虫药产品，获越南官方批准上市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出海首秀成功，国际化战略突破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63440" y="3785616"/>
            <a:ext cx="4160520" cy="76809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785616"/>
            <a:ext cx="54864" cy="768096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25" name="Text 23"/>
          <p:cNvSpPr/>
          <p:nvPr/>
        </p:nvSpPr>
        <p:spPr>
          <a:xfrm>
            <a:off x="4828032" y="384962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处方粮（药粮联动）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28032" y="4105656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台州基地2026下半年开工，2027底投产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国内处方粮渗透率&lt;1%，海外25%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差异化定位：诊断—治疗—术后康复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4645152"/>
            <a:ext cx="8503920" cy="384048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6451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对BI威胁：海乐妙直接冲击BI猫驱虫线；85%研发投入宠物+出海战略意味着全面竞争；「药粮联动」或重塑宠物健康解决方案格局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数据来源：全球宠业出海洞察×海正动保总经理访谈（2026年5月11日）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国内竞品动态 | Domestic Competitor Dynamics — 进口替代加速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4160520" cy="411480"/>
          </a:xfrm>
          <a:prstGeom prst="rect">
            <a:avLst/>
          </a:prstGeom>
          <a:solidFill>
            <a:srgbClr val="FFE66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海正动保  [⭐ 重点]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海乐妙猫驱虫市占率第一（2亿元/年）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海妙哆猫三联疫苗国产突破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85%研发投入宠物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出海：越南获批，2026目标3-5个海外市场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804672"/>
            <a:ext cx="4160520" cy="41148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0467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惠中动保  [新进入者]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发布狗狗驱虫滴剂「倍宠恩」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布局宠物驱虫药市场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价格竞争压力上升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67919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679192"/>
            <a:ext cx="4160520" cy="411480"/>
          </a:xfrm>
          <a:prstGeom prst="rect">
            <a:avLst/>
          </a:prstGeom>
          <a:solidFill>
            <a:srgbClr val="C5C3E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791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金河生物  [观察]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315468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2026年4月29日投资者关系活动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关注宠物动保业务动态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2679192"/>
            <a:ext cx="416052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2679192"/>
            <a:ext cx="4160520" cy="41148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2679192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瑞普生物  [竞品]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46320" y="315468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恩倍多狗用滴剂对标福来恩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价格竞争激烈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4526280"/>
            <a:ext cx="8503920" cy="502920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45262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国产替代加速深化 | Import Substitution Deepening：猫三联疫苗已实现国产集体突破，向高端药品市场渗透；国产品牌性价比优势持续蚕食外资份额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数据来源：前瞻网、海正动保官方信息、惠中动保电商信息  |  Data: May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vs 竞品：关键维度对比 | BI vs Competitors — 5-Dimension Comparison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146304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04672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维度 Dimension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804672"/>
            <a:ext cx="182880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80467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Boehringer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0" y="804672"/>
            <a:ext cx="173736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0" y="80467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Zoetis 硕腾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394960" y="804672"/>
            <a:ext cx="160020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2" name="Text 10"/>
          <p:cNvSpPr/>
          <p:nvPr/>
        </p:nvSpPr>
        <p:spPr>
          <a:xfrm>
            <a:off x="5394960" y="8046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Elanco 礼蓝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160" y="804672"/>
            <a:ext cx="1600200" cy="50292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4" name="Text 12"/>
          <p:cNvSpPr/>
          <p:nvPr/>
        </p:nvSpPr>
        <p:spPr>
          <a:xfrm>
            <a:off x="6995160" y="8046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Haizhou 海正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07592"/>
            <a:ext cx="146304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1307592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核心产品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Products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828800" y="1307592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74520" y="1307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超可信、NexGard COMBO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（驱虫+抗寄生虫）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657600" y="1307592"/>
            <a:ext cx="173736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3320" y="1307592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驱虫药、疫苗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高价值处方药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94960" y="1307592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0680" y="1307592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Zenrelia、Credelio Quattro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（创新驱虫）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995160" y="1307592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307592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海乐妙（猫驱虫第一）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海妙哆（国产猫三联）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5760" y="1929384"/>
            <a:ext cx="1463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1929384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技术优势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Edge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1828800" y="1929384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74520" y="192938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异恶唑啉类创新药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猫糖尿病口服在研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57600" y="1929384"/>
            <a:ext cx="1737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03320" y="1929384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手术机器人Ottava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慢性病五大领域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394960" y="1929384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40680" y="1929384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JAK抑制剂Zenrelia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Quattro放量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995160" y="1929384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40880" y="1929384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国产疫苗突破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原料药自产 6A标准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65760" y="2551176"/>
            <a:ext cx="146304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1480" y="2551176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渠道策略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828800" y="2551176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74520" y="2551176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宠物医院+电商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双渠道布局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657600" y="2551176"/>
            <a:ext cx="173736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03320" y="2551176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医院为主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京东健康合作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94960" y="2551176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40680" y="255117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医院深耕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K+N物流合作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995160" y="2551176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0880" y="255117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电商增速80%+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医院线下布局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65760" y="3172968"/>
            <a:ext cx="14630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1480" y="3172968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市场定位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828800" y="3172968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74520" y="317296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高端驱虫/抗寄生虫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预防性用药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657600" y="3172968"/>
            <a:ext cx="1737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03320" y="3172968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高价值处方药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慢性病长期管理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394960" y="3172968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40680" y="317296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预防+治疗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精准干预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995160" y="3172968"/>
            <a:ext cx="16002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40880" y="317296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性价比+国产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进口替代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65760" y="3794760"/>
            <a:ext cx="146304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1480" y="3794760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主要挑战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828800" y="3794760"/>
            <a:ext cx="1828800" cy="621792"/>
          </a:xfrm>
          <a:prstGeom prst="rect">
            <a:avLst/>
          </a:prstGeom>
          <a:solidFill>
            <a:srgbClr val="E8FFF2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874520" y="37947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国产品性价比竞争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新品上市速度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0" y="3794760"/>
            <a:ext cx="173736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703320" y="3794760"/>
            <a:ext cx="1645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增速放缓-11%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市场竞争加剧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394960" y="3794760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40680" y="379476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净负债33亿美元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新兴市场压力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995160" y="3794760"/>
            <a:ext cx="1600200" cy="621792"/>
          </a:xfrm>
          <a:prstGeom prst="rect">
            <a:avLst/>
          </a:prstGeom>
          <a:solidFill>
            <a:srgbClr val="F5FBF7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40880" y="379476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高端突破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E2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国际化经验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365760" y="1307592"/>
            <a:ext cx="1463040" cy="3108960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6" name="Text 64"/>
          <p:cNvSpPr/>
          <p:nvPr/>
        </p:nvSpPr>
        <p:spPr>
          <a:xfrm>
            <a:off x="365760" y="1307592"/>
            <a:ext cx="1463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优势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Edge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数字化差距分析 | Digital Gap Analysis — 竞品都在做，BI还没做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04672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17320"/>
                <a:gridCol w="1417320"/>
                <a:gridCol w="1417320"/>
                <a:gridCol w="21488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功能 Feature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勃林格 BI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硕腾 Zoetis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拜耳 Bayer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差距 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1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微信小程序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WeChat Mini Program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完全缺失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驱虫提醒工具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Deworming Reminder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用户粘性低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在线问诊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Vet Consultation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服务闭环差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产品对比工具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Comparison 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决策支持弱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宠物健康档案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 Health Record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8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F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666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❌ 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AA66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用户忠诚度低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C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730752"/>
            <a:ext cx="8412480" cy="658368"/>
          </a:xfrm>
          <a:prstGeom prst="rect">
            <a:avLst/>
          </a:prstGeom>
          <a:solidFill>
            <a:srgbClr val="08312A"/>
          </a:solidFill>
          <a:ln/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365760" y="3730752"/>
            <a:ext cx="73152" cy="6583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730752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核心差距：勃林格在数字化宠主体验工具方面全面落后——微信小程序、驱虫提醒、在线问诊、产品对比、宠物健康档案五大功能全部缺失，导致用户粘性和服务闭环能力严重不足，在国产品牌性价比冲击下更容易失守市场份额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8312A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4800600"/>
            <a:ext cx="8412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注：以上分析基于公开产品信息和行业研究  |  Data based on public product info, May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行业趋势与 BI 机遇 | 6 Key Industry Trends &amp; BI Opportunities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896112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96112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96112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95097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进口替代加速深化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24358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猫三联疫苗国产集体突破后，海正等持续向高端宠物药品市场渗透，外资品牌份额面临压缩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896112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896112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896112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95097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国产宠药国际化突破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03520" y="124358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海正「海乐旺」获越南批准，中国动保企业从「引进来」向「走出去」转型，出海成战略重点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157984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2157984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157984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22128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美国宠物市场消费降级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2505456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硕腾Q1美国伴侣动物-11%，消费者价格敏感度上升，宠物高端医疗需求疲软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4880" y="2157984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2157984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1" name="Text 19"/>
          <p:cNvSpPr/>
          <p:nvPr/>
        </p:nvSpPr>
        <p:spPr>
          <a:xfrm>
            <a:off x="4754880" y="2157984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03520" y="22128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技术创新驱动增长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03520" y="2505456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礼蓝Zenrelia/Credelio Quattro放量成唯一确定性路径；硕腾押注五大慢性病；创新是护城河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3419856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5760" y="3419856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419856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14400" y="34747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渠道竞争多元化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3767328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电商占驱虫药55%份额（+20% YoY）；宠物医院仍是外资核心阵地；O2O即时需求崛起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3419856"/>
            <a:ext cx="4114800" cy="1115568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754880" y="3419856"/>
            <a:ext cx="457200" cy="111556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1" name="Text 29"/>
          <p:cNvSpPr/>
          <p:nvPr/>
        </p:nvSpPr>
        <p:spPr>
          <a:xfrm>
            <a:off x="4754880" y="3419856"/>
            <a:ext cx="457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303520" y="34747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行业标准化进程加速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03520" y="3767328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7B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农业农村部发布4项宠物领域行业标准（2026年5月1日实施），规范化利好合规领先企业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4681728"/>
            <a:ext cx="8412480" cy="43891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6817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行动建议：强化驱虫组合优势 + 加速猫糖尿病等慢病管线 + 补齐数字化工具（小程序/提醒/问诊）+ 深耕电商渠道 + 关注一带一路出海机遇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31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总结与建议 | Summary &amp; Recommendations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60520" cy="36118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0789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竞争格局快照 | Competitive Landscape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3886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硕腾：全球绝对龙头，Q1国际+17%但美国-11%，慢性病是长期押注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礼蓝：Q1营收-3%但创新产品放量，新兴市场压力明显，全年指引上调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默沙东：Q1+13%，多元化组合稳健，医院渠道深耕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海正：宠物占比55%，2亿单品海乐妙，85%研发在宠物，出海加速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国产品牌性价比优势持续蚕食外资，进口替代不可逆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60520" cy="3611880"/>
          </a:xfrm>
          <a:prstGeom prst="rect">
            <a:avLst/>
          </a:prstGeom>
          <a:solidFill>
            <a:srgbClr val="FFFFFF">
              <a:alpha val="9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800600" y="107899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E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 行动建议 | Action Items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481328"/>
            <a:ext cx="41148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4813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66360" y="14813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加速猫糖尿病等慢病管线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166360" y="170992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猫市场增速最快，NexGard COMBO已有先发优势，加快慢病布局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2011680"/>
            <a:ext cx="411480" cy="457200"/>
          </a:xfrm>
          <a:prstGeom prst="rect">
            <a:avLst/>
          </a:prstGeom>
          <a:solidFill>
            <a:srgbClr val="F58A68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0" y="20116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补齐数字化工具缺口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66360" y="224028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小程序+驱虫提醒+在线问诊+宠物档案，缩小与竞品体验差距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542032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54203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166360" y="25420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强化驱虫组合优势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166360" y="277063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超可信+博来恩+福来恩组合拳，对抗海正2亿单品海乐妙冲击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3072384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072384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166360" y="30723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电商渠道精细化运营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66360" y="33009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驱虫药电商占55%且+20%，与京东健康/天猫合作内容种草+搜索卡位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3602736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3602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166360" y="36027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关注一带一路出海机遇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66360" y="383133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海正已获越南批文，BI国际业务需评估一带一路市场进入策略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63440" y="4133088"/>
            <a:ext cx="411480" cy="457200"/>
          </a:xfrm>
          <a:prstGeom prst="rect">
            <a:avLst/>
          </a:prstGeom>
          <a:solidFill>
            <a:srgbClr val="A3E5EE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413308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166360" y="41330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行业标准合规领先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66360" y="436168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988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4项行业标准5月1日实施，合规领先企业将受益，抢先布局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65760" y="4681728"/>
            <a:ext cx="8412480" cy="438912"/>
          </a:xfrm>
          <a:prstGeom prst="rect">
            <a:avLst/>
          </a:prstGeom>
          <a:solidFill>
            <a:srgbClr val="00E47C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68172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3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数据截至：2026年5月13日  |  非官方披露数据仅供内部使用  |  INTERNAL USE ONLY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 Pet Competitive Ecosystem 2026</dc:title>
  <dc:subject>PptxGenJS Presentation</dc:subject>
  <dc:creator>BI China Pet Health</dc:creator>
  <cp:lastModifiedBy>BI China Pet Health</cp:lastModifiedBy>
  <cp:revision>1</cp:revision>
  <dcterms:created xsi:type="dcterms:W3CDTF">2026-05-13T10:28:20Z</dcterms:created>
  <dcterms:modified xsi:type="dcterms:W3CDTF">2026-05-13T10:28:20Z</dcterms:modified>
</cp:coreProperties>
</file>