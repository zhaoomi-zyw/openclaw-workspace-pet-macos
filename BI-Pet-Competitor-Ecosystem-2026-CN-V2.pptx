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· 竞品动态 · BI对策 ·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最新情报：Q1全球财报 · 海正动保深度档案 · 行业标准实施 · 618备战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全球动保 Q1 2026 成绩单 | Global Pet Pharma Q1 2026 Scorecard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05740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运营收入同比增3%，不及预期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国际+17% · 诊断+10%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美国伴侣动物-11%，股价大跌10%+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804672"/>
            <a:ext cx="2057400" cy="45720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10.4亿美元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营收同比下降3%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1460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Zenrelia/Credelio Quattro放量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0604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新兴市场承压，净负债33亿美元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804672"/>
            <a:ext cx="205740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0060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动物保健板块同比增13%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多元化组合稳健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宠物线相对平淡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0372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804672"/>
            <a:ext cx="2057400" cy="45720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951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美国宠物市场消费降级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硕腾美国伴侣动物-11%，宠物主人价格敏感度上升，兽医就诊次数减少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8" name="Text 46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70332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创新驱动成唯一确定性路径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0332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Quattro放量，硕腾皮肤科下滑11%迎竞争压力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53" name="Text 51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2940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中国成跨国必争高地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BI中国2025年在华销售额+8.6%，礼蓝/诗华将战略重心迁至上海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数据来源：硕腾/礼蓝/默沙东 Q1财报（2026年4-5月）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 &amp; 核心数据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宠物药品市场规模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 — 最大增量来源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猫数量7,200万只，增速CAGR ~8%，已超越狗成为最大宠物品类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室内猫比例&gt;70%，"不出门不驱虫"误区→最大认知缺口，教育空间大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国产猫三联疫苗突破：海正「海妙哆」填补国产高端空白，2025年2月上市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猫用滴剂最优剂型（优于口服），猫咪喂药难→滴剂依从性更高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BI猫用：NexGard COMBO（首个且唯一获批治疗绦虫），博来恩（猫用）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 — 高价值处方药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狗数量5,800万只，增速CAGR ~3%，整体消费能力高于猫（年消费4,000-6,000元）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户外暴露场景多，驱虫频次需求更高（蜱虫、心丝虫高发区）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超可信中国率先获批治疗犬疥螨、蠕形螨（异恶唑啉类）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宠物医院+电商双渠道布局深化，兽医推荐影响力大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25880"/>
                <a:gridCol w="1508760"/>
                <a:gridCol w="1783080"/>
                <a:gridCol w="2971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2025销量对比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 3.6亿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 ~2.4亿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 1.08亿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 0.48亿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 0.72亿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 ~0.8亿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肠虫清（普安特）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 0.60亿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 ~1.5亿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竞品深度：硕腾 Zoetis | Q1 2026 — 行业龙头遭遇「倒春寒」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全球年营收参考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Ref.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2432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 · +3% YoY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（不及预期）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1888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同比下滑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1344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1344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国际市场增长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关键引擎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中国市场策略 | China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176272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押注宠物五大慢性病：慢性肾病、肿瘤学、心脏病学、肥胖症、焦虑症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持续深耕宠物医院渠道，携手京东健康打造宠物抗感染中心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诊断领域：与生物梅里埃合作建立宠物临床微生物学示范实验室（2025年8月）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皮肤病产品：Apoquel（奥拉替尼）+ Cytopoint（洛吉司亭）全球领先，中国增速放缓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828800"/>
            <a:ext cx="416052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828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美国宠物市场放缓，竞争加剧，增长降速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Q1股价大跌逾10%，盘前一度跌超20%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中国高价值宠物药市场面临国产品牌性价比优势激烈竞争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Ottava手术机器人等待监管批准，短期无法商业化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洞察：硕腾高壁垒、高毛利、高复购，但短期面临增速压力；国际+诊断是亮点，中国市场慢性病布局为长期关键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 Q1 2026财报（4月29日）、雪球网、前瞻网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竞品动态：礼蓝 &amp; 默沙东 | Elanco · Merck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Q1营收10.4亿美元（-3%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新兴市场（中国等）面临短期压力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Zenrelia已覆盖超50%美国诊所，份额+5pct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Quattro渗透40%美国诊所，份额飙升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在已覆盖诊所中市场份额高达53%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全年有机增长指引上调至5%-7%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384048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 Animal Health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Q1动物保健板块18亿美元（+13%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牲畜业务更强（反刍动物+家禽+定价优势）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持续举办「宠物医院发展论坛」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深度布局宠物医院渠道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Nobivac狂犬病疫苗中国强劲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Bravecto（氟雷拉纳）持续布局中国市场准入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804672"/>
            <a:ext cx="274320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6858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840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渠道策略共识 | Channel Strategy：外资品牌核心渠道 = 宠物医院（制高点）+ 电商快速增长（京东健康×硕腾合作；驱虫药电商55%份额）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数据来源：礼蓝/默沙东 Q1财报、前瞻网、Elanco官方公告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国内竞品深度：海正动保 ⭐重点关注 | Haizhou Animal Health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战略定位：从「两条腿走路」到「宠物为核心+出海」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3258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企业规模：25条生产线，近50款在售产品，40个在研产品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研发实力：85%新项目集中在宠物，每年4-6款新品上市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过去15年47个新兽药批文（占全国近10%），15个国家二类新兽药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2025年宠物业务占比55%（原计划2-3年实现，已提前完成）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2026年计划再推5-6个新品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产能布局：富阳（化药）+ 云南（疫苗/大分子）+ 台州（处方粮，2027投产）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国际化：2026年目标3-5个海外市场商业化；越南获批为出海首秀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出海节奏：一带一路优先（东南亚→俄罗斯→南美→非洲→中东→欧美）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核心产品矩阵 | Product Highlights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61872"/>
            <a:ext cx="54864" cy="76809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25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 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15819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猫驱虫药，国内市占率第一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2025年含税销售额2亿元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国内猫约7000万只，渗透率&lt;20%（增长空间大）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103120"/>
            <a:ext cx="54864" cy="768096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2167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423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国产猫三联疫苗，2025年2月上市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定价比进口品牌还高，工艺更好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填补国产高端宠物疫苗空白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44368"/>
            <a:ext cx="54864" cy="768096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3008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2644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驱虫药产品，获越南官方批准上市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出海首秀成功，国际化战略突破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785616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785616"/>
            <a:ext cx="54864" cy="768096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38496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处方粮（药粮联动）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41056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台州基地2026下半年开工，2027底投产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国内处方粮渗透率&lt;1%，海外25%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差异化定位：诊断—治疗—术后康复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对BI威胁：海乐妙直接冲击BI猫驱虫线；85%研发投入宠物+出海战略意味着全面竞争；「药粮联动」或重塑宠物健康解决方案格局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数据来源：全球宠业出海洞察×海正动保总经理访谈（2026年5月11日）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 — 进口替代加速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60520" cy="41148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海正动保  [⭐ 重点]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海乐妙猫驱虫市占率第一（2亿元/年）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海妙哆猫三联疫苗国产突破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85%研发投入宠物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出海：越南获批，2026目标3-5个海外市场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惠中动保  [新进入者]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发布狗狗驱虫滴剂「倍宠恩」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布局宠物驱虫药市场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价格竞争压力上升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79192"/>
            <a:ext cx="4160520" cy="41148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金河生物  [观察]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2026年4月29日投资者关系活动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关注宠物动保业务动态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679192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  [竞品]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恩倍多狗用滴剂对标福来恩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价格竞争激烈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Deepening：猫三联疫苗已实现国产集体突破，向高端药品市场渗透；国产品牌性价比优势持续蚕食外资份额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数据来源：前瞻网、海正动保官方信息、惠中动保电商信息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5-Dimension Comparison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07592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3075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1307592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13075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（驱虫+抗寄生虫）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307592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30759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驱虫药、疫苗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Zenrelia、Credelio Quattro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（创新驱虫）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海乐妙（猫驱虫第一）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海妙哆（国产猫三联）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929384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9293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1929384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19293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异恶唑啉类创新药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猫糖尿病口服在研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1929384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1929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手术机器人Ottava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慢性病五大领域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JAK抑制剂Zenrelia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Quattro放量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951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国产疫苗突破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原料药自产 6A标准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551176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5511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0" y="2551176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74520" y="25511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0" y="2551176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255117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949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K+N物流合作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51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电商增速80%+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医院线下布局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72968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172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0" y="3172968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74520" y="31729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0" y="3172968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317296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951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3794760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7947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0" y="3794760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74520" y="37947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657600" y="3794760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03320" y="37947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增速放缓-11%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949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06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净负债33亿美元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新兴市场压力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9951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数字化差距分析 | Digital Gap Analysis — 竞品都在做，BI还没做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17320"/>
                <a:gridCol w="1417320"/>
                <a:gridCol w="1417320"/>
                <a:gridCol w="2148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 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勃林格 BI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硕腾 Zoetis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拜耳 Bayer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差距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微信小程序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WeChat Mini Program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完全缺失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驱虫提醒工具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 Reminder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用户粘性低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在线问诊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Vet Consultation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服务闭环差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产品对比工具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决策支持弱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宠物健康档案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Health Record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用户忠诚度低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730752"/>
            <a:ext cx="8412480" cy="658368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730752"/>
            <a:ext cx="73152" cy="6583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7307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核心差距：勃林格在数字化宠主体验工具方面全面落后——微信小程序、驱虫提醒、在线问诊、产品对比、宠物健康档案五大功能全部缺失，导致用户粘性和服务闭环能力严重不足，在国产品牌性价比冲击下更容易失守市场份额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注：以上分析基于公开产品信息和行业研究  |  Data based on public product info, May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行业趋势与 BI 机遇 | 6 Key Industry Trends &amp; BI Opportunities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猫三联疫苗国产集体突破后，海正等持续向高端宠物药品市场渗透，外资品牌份额面临压缩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国产宠药国际化突破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海正「海乐旺」获越南批准，中国动保企业从「引进来」向「走出去」转型，出海成战略重点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美国宠物市场消费降级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硕腾Q1美国伴侣动物-11%，消费者价格敏感度上升，宠物高端医疗需求疲软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Quattro放量成唯一确定性路径；硕腾押注五大慢性病；创新是护城河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渠道竞争多元化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电商占驱虫药55%份额（+20% YoY）；宠物医院仍是外资核心阵地；O2O即时需求崛起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行业标准化进程加速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农业农村部发布4项宠物领域行业标准（2026年5月1日实施），规范化利好合规领先企业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行动建议：强化驱虫组合优势 + 加速猫糖尿病等慢病管线 + 补齐数字化工具（小程序/提醒/问诊）+ 深耕电商渠道 + 关注一带一路出海机遇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 | Summary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竞争格局快照 | Competitive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硕腾：全球绝对龙头，Q1国际+17%但美国-11%，慢性病是长期押注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礼蓝：Q1营收-3%但创新产品放量，新兴市场压力明显，全年指引上调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默沙东：Q1+13%，多元化组合稳健，医院渠道深耕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海正：宠物占比55%，2亿单品海乐妙，85%研发在宠物，出海加速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国产品牌性价比优势持续蚕食外资，进口替代不可逆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 | Action Items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6636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加速猫糖尿病等慢病管线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1709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猫市场增速最快，NexGard COMBO已有先发优势，加快慢病布局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补齐数字化工具缺口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小程序+驱虫提醒+在线问诊+宠物档案，缩小与竞品体验差距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强化驱虫组合优势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超可信+博来恩+福来恩组合拳，对抗海正2亿单品海乐妙冲击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电商渠道精细化运营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驱虫药电商占55%且+20%，与京东健康/天猫合作内容种草+搜索卡位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36027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关注一带一路出海机遇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3831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海正已获越南批文，BI国际业务需评估一带一路市场进入策略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行业标准合规领先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4项行业标准5月1日实施，合规领先企业将受益，抢先布局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  | 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Competitive Ecosystem 2026</dc:title>
  <dc:subject>PptxGenJS Presentation</dc:subject>
  <dc:creator>BI China Pet Health</dc:creator>
  <cp:lastModifiedBy>BI China Pet Health</cp:lastModifiedBy>
  <cp:revision>1</cp:revision>
  <dcterms:created xsi:type="dcterms:W3CDTF">2026-05-13T10:28:20Z</dcterms:created>
  <dcterms:modified xsi:type="dcterms:W3CDTF">2026-05-13T10:28:20Z</dcterms:modified>
</cp:coreProperties>
</file>