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宠物市场与竞争分析 2026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Pet Market &amp; Boehringer Ingelheim Competitive Analysis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3200400" cy="54864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市场趋势 | BI产品 | 竞品动态 | 行业洞察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数据截至：2026年5月  |  非官方披露数据仅供内部使用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0" y="4251960"/>
            <a:ext cx="1645920" cy="502920"/>
          </a:xfrm>
          <a:prstGeom prst="rect">
            <a:avLst/>
          </a:prstGeom>
          <a:solidFill>
            <a:srgbClr val="00E47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0" y="4251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China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Health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市场概览 | Market Overview — 猫狗增长趋势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20116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54864" cy="128016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8961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3,126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 CNY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宠物消费市场规模(2025)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Pet Market Size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822960"/>
            <a:ext cx="20116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822960"/>
            <a:ext cx="54864" cy="128016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8961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97480" y="13258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 CNY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97480" y="1554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宠物医疗消费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Medical Consumption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822960"/>
            <a:ext cx="20116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822960"/>
            <a:ext cx="54864" cy="128016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8961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1.26亿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892040" y="13258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1554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城镇犬猫数量(2025)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Population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49440" y="822960"/>
            <a:ext cx="20116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0" y="822960"/>
            <a:ext cx="54864" cy="128016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22" name="Text 20"/>
          <p:cNvSpPr/>
          <p:nvPr/>
        </p:nvSpPr>
        <p:spPr>
          <a:xfrm>
            <a:off x="7086600" y="8961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086600" y="13258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86600" y="1554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宠物药品市场增速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Pharma CAGR 2026-31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2240280"/>
            <a:ext cx="402336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240280"/>
            <a:ext cx="4023360" cy="41148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2240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🐱 猫咪市场 | Cat Market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2724912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猫三联疫苗国产突破：海正「海妙哆」填补国产高端空白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猫咪经济持续攀升，数量增长显著（猫增速~8% &gt;&gt; 狗~3%）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猫用糖尿病、肾脏病等慢性病需求上升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BI猫用产品：NexGard COMBO（首个且唯一获批治疗绦虫）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2240280"/>
            <a:ext cx="402336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240280"/>
            <a:ext cx="4023360" cy="41148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240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🐕 狗狗市场 | Dog Market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2724912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超可信中国率先获批治疗犬疥螨、蠕形螨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异恶唑啉类药物市场快速增长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宠物医院+电商双渠道布局深化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BI产品：超可信、福来恩、福味恩、尼可信、犬心保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数据来源：《2026年中国宠物行业白皮书》、前瞻研究院  |  Data: May 2026 (W21)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宠物药品清单 — 非处方药 | BIAH Pet Product List (Non-Rx)</a:t>
            </a:r>
            <a:endParaRPr lang="en-US" sz="1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280160"/>
                <a:gridCol w="1554480"/>
                <a:gridCol w="1828800"/>
                <a:gridCol w="29260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药品类别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药品名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客户及疗效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竞争对手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2025销量对比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超可信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NexGard Spectra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狗驱虫，内外同驱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大宠爱（硕腾）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爱沃克（拜耳）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超可信 1.44亿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大宠爱 3.6亿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爱沃克 ~2.4亿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博来恩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Broadkick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猫驱虫，内外同驱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妙宠爱（硕腾）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博来恩 1.08亿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妙宠爱 1.8亿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福味恩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狗驱虫，口服外驱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贝卫多（默沙东）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欣宠克（礼蓝）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福味恩 0.48亿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贝卫多 1.2亿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欣宠克 ~0.6亿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尼可信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狗驱虫，口服外驱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贝卫多（默沙东）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欣宠克（礼蓝）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尼可信 0.72亿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贝卫多 1.2亿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欣宠克 ~0.6亿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福来恩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Frontline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狗驱虫，滴剂外驱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拜宠爽（拜耳）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恩倍多（瑞普生物）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福来恩 1.44亿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拜宠爽 1.2亿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恩倍多 ~0.8亿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犬心保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Sentinel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狗驱虫，口服内驱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拜宠清（拜耳）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海乐妙（海正）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肠虫清（普安特）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犬心保 0.60亿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拜宠清 1.8亿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海乐妙 ~1.5亿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800600"/>
            <a:ext cx="731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注：以上数据基于市场调研和行业估算，非官方披露数据  |  Data based on market research estimates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315200" y="4800600"/>
            <a:ext cx="1463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竞品分析：硕腾 Zoetis | Key Competitor Analysis ⭐ W21更新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2651760" cy="86868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868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~5,000亿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全球年营收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Revenue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651760" cy="86868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868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~6,000亿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37560" y="1234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Cap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35040" y="822960"/>
            <a:ext cx="2651760" cy="86868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72200" y="868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5大领域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172200" y="1234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押注宠物慢性病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Chronic Disease Areas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828800"/>
            <a:ext cx="8412480" cy="475488"/>
          </a:xfrm>
          <a:prstGeom prst="rect">
            <a:avLst/>
          </a:prstGeom>
          <a:solidFill>
            <a:srgbClr val="FFEEEE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1828800"/>
            <a:ext cx="73152" cy="47548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182880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W21重大事件：5月7日 Zoetis下调2026年利润预测（宠物主削减开支、减少就诊），股价当日暴跌约21%，Q1业绩未达预期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4505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中国市场策略 | China Strategy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2798064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押注宠物五大慢性病：慢性肾病、肿瘤学、心脏病学、肥胖症、焦虑症，开发25+治疗/诊断方案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持续深耕宠物医院渠道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与京东健康合作，打造宠物抗感染中心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诊断领域：与生物梅里埃合作建立宠物临床微生物学示范实验室（2025年8月）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450592"/>
            <a:ext cx="402336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450592"/>
            <a:ext cx="4023360" cy="384048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4505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市场挑战 | Market Challenges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2907792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W21预警：宠物主削减开支、减少常规就诊，核心市场增长承压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中国高价值宠物药市场面临国产品牌性价比优势激烈竞争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美国宠物市场放缓，竞争加剧，增长降速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Ottava手术机器人等待监管批准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4462272"/>
            <a:ext cx="8412480" cy="475488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44622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洞察：Zoetis高壁垒、高毛利，但W21利润预警暴露消费降级风险。慢性病布局为长期关键，短期需应对宠物主开支收缩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数据来源：雪球网、前瞻网、Zoetis官方公告  |  Data: May 2026 (W21)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竞品分析：礼蓝 &amp; 默沙东 | Elanco &amp; Merck Animal Health ⭐ W21更新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023360" cy="384048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229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礼蓝动保 Elanco ⭐ W21更新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402336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37160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2026财报（5月6日）：营收约10.4亿美元（同比-3%），但业绩超预期并上调全年指引，股价当日大涨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Zenrelia和Credelio Quattro放量驱动增长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管理层提及中国等新兴市场面临短期压力，但长期战略重点不变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2026年4月海南「精准干预」大会，聚焦宠物健康管理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023360" cy="384048"/>
          </a:xfrm>
          <a:prstGeom prst="rect">
            <a:avLst/>
          </a:prstGeom>
          <a:solidFill>
            <a:srgbClr val="C5C3EE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8229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默沙东动保 Merck Animal Health ⭐ W21更新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280160"/>
            <a:ext cx="402336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37160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W21新动态（5月12日）：默沙东研发（中国）与中国多家生物企业达成合作，持续拓展在华合作网络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持续举办「宠物医院发展论坛」，构建「医宠互信」新生态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深度布局宠物医院渠道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Nobivac狂犬病疫苗中国市场表现强劲，Bravecto持续布局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794760"/>
            <a:ext cx="8412480" cy="68580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794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渠道策略 | Channel Strategy：外资品牌核心渠道 = 宠物医院（制高点）+ 电商快速增长（京东健康×硕腾合作）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数据来源：Elanco Q1 2026财报电话会议、Merck官方公告  |  Data: May 2026 (W21)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国内竞品动态 | Domestic Competitor Dynamics ⭐ W21更新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38404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0467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📣 W21重磅：TOPS它博会（5月7-10日，上海）规模超10万m²，海正动保 × 勃林格殷格翰悉数参展，国产品牌集体亮相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4389120" cy="384048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9844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海正动保（重点关注）| Haizhou Animal Health ⭐ W21更新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73936"/>
            <a:ext cx="43891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773936"/>
            <a:ext cx="54864" cy="64008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18288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TOPS它博会展出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20665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携「预防-治疗-营养」全生命周期产品矩阵亮相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与天猫联手打造「国风」展台，诠释「全球化精品国药」定位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487168"/>
            <a:ext cx="43891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487168"/>
            <a:ext cx="54864" cy="64008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25420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海妙哆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27797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国产猫三联疫苗 | 填补国产高端空白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2025年2月上市，海正目标订单破30万，业绩向10亿元迈进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43891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200400"/>
            <a:ext cx="54864" cy="640080"/>
          </a:xfrm>
          <a:prstGeom prst="rect">
            <a:avLst/>
          </a:prstGeom>
          <a:solidFill>
            <a:srgbClr val="C5C3EE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325526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出海：海乐旺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" y="34930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获越南官方批准上市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「深耕宠物健康主航道，以创新为动力、以品质为根基」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913632"/>
            <a:ext cx="43891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913632"/>
            <a:ext cx="54864" cy="64008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396849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战略定位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" y="4206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不做「低价卷王」，走「全球化精品国药」路线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目标：宠物赛道为核、海外市场为翼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74920" y="1298448"/>
            <a:ext cx="3657600" cy="384048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0" y="129844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其他国内竞品 | Other Domestic Players ⭐ W21更新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74920" y="1773936"/>
            <a:ext cx="365760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212080" y="18288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瑞普生物 ⭐ W21新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12080" y="21031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2026年战略（5月14日互动平台）：继续深耕主业，全力推进宠物、合成生物等新业务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巩固爆款产品优势，扩大终端覆盖，提升医院渠道占有率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74920" y="2980944"/>
            <a:ext cx="3657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212080" y="30358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惠中动保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3291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发布狗狗驱虫滴剂产品「倍宠恩」，布局宠物驱虫药市场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74920" y="3986784"/>
            <a:ext cx="3657600" cy="658368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212080" y="402336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E6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国产替代加速深化 | Import Substitution Deepening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12080" y="426110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猫三联疫苗已实现国产集体突破，向高端药品市场持续渗透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4681728"/>
            <a:ext cx="4389120" cy="457200"/>
          </a:xfrm>
          <a:prstGeom prst="rect">
            <a:avLst/>
          </a:prstGeom>
          <a:solidFill>
            <a:srgbClr val="00E47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02920" y="46817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BI对策：强化驱虫组合优势 + 加速猫糖尿病等慢病产品管线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数据来源：海正动保官方信息、瑞普生物互动平台、前瞻网  |  Data: May 2026 (W21)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vs 竞品：关键维度对比 | BI vs Competitors — Key Comparison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1554480" cy="54864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0467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 Dimension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920240" y="804672"/>
            <a:ext cx="1920240" cy="54864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8" name="Text 6"/>
          <p:cNvSpPr/>
          <p:nvPr/>
        </p:nvSpPr>
        <p:spPr>
          <a:xfrm>
            <a:off x="1920240" y="8046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Boehringer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40480" y="804672"/>
            <a:ext cx="1828800" cy="54864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8046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 硕腾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0" y="804672"/>
            <a:ext cx="1645920" cy="54864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80467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Elanco 礼蓝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0" y="804672"/>
            <a:ext cx="1645920" cy="54864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0" y="80467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Haizhou 海正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1353312"/>
            <a:ext cx="155448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353312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核心产品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Products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920240" y="1353312"/>
            <a:ext cx="192024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135331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超可信、NexGard COMBO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（驱虫+抗寄生虫）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840480" y="1353312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86200" y="135331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驱虫药、疫苗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高价值处方药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669280" y="1353312"/>
            <a:ext cx="164592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1353312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驱虫药、抗感染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宠物健康管理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15200" y="1353312"/>
            <a:ext cx="164592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60920" y="1353312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猫三联「海妙哆」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驱虫药「海乐旺」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1975104"/>
            <a:ext cx="1554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975104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技术优势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Edge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920240" y="1975104"/>
            <a:ext cx="192024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65960" y="1975104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异恶唑啉类创新药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猫糖尿病口服在研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840480" y="1975104"/>
            <a:ext cx="1828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86200" y="1975104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手术机器人Ottava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慢性病五大领域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669280" y="1975104"/>
            <a:ext cx="16459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15000" y="197510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精准干预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健康管理方案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315200" y="1975104"/>
            <a:ext cx="16459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60920" y="197510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国产疫苗突破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6A标准体系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" y="2596896"/>
            <a:ext cx="155448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2596896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渠道策略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920240" y="2596896"/>
            <a:ext cx="192024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65960" y="2596896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宠物医院+电商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双渠道布局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840480" y="2596896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86200" y="2596896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医院为主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京东健康合作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669280" y="2596896"/>
            <a:ext cx="164592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2596896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医院深耕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物流合作K+N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315200" y="2596896"/>
            <a:ext cx="164592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60920" y="2596896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国内快速扩张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出海越南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65760" y="3218688"/>
            <a:ext cx="1554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3218688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市场定位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920240" y="3218688"/>
            <a:ext cx="192024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65960" y="321868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高端驱虫/抗寄生虫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预防性用药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840480" y="3218688"/>
            <a:ext cx="1828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86200" y="321868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高价值处方药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慢性病长期管理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669280" y="3218688"/>
            <a:ext cx="16459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15000" y="3218688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预防+治疗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精准干预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315200" y="3218688"/>
            <a:ext cx="16459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60920" y="3218688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性价比+国产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精品国药路线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65760" y="3840480"/>
            <a:ext cx="155448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" y="384048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主要挑战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920240" y="3840480"/>
            <a:ext cx="192024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965960" y="384048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国产品性价比竞争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新品上市速度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840480" y="3840480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886200" y="384048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W21利润预警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增速放缓+21%暴跌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669280" y="3840480"/>
            <a:ext cx="164592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15000" y="3840480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中国业务指引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增长压力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315200" y="3840480"/>
            <a:ext cx="164592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60920" y="3840480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高端突破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国际化经验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65760" y="1353312"/>
            <a:ext cx="1554480" cy="310896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66" name="Text 64"/>
          <p:cNvSpPr/>
          <p:nvPr/>
        </p:nvSpPr>
        <p:spPr>
          <a:xfrm>
            <a:off x="365760" y="1353312"/>
            <a:ext cx="1554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优势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Edge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68" name="Text 66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数据来源：各公司官方公告、财务报告  |  Data: May 2026 (W21)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3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行业趋势与 BI 机遇 | Industry Trends &amp; BI Opportunities ⭐ W21更新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96112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96112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9509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消费降级影响外资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20700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Spending Cuts Hit Foreign Brands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140817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宠物主削减开支、减少就诊频次，Zoetis等高端定位企业首当其冲，W21 Zoetis股价暴跌21%为标志性事件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896112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896112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896112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0" y="9509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进口替代加速深化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0" y="120700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Substitution Deepening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303520" y="140817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猫三联疫苗国产集体突破，海正「不做低价卷王」走精品国药路线，外资高端市场面临压缩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157984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2157984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157984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22128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国内品牌国际化突破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246888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Brands Go Global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14400" y="267004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海正「海乐旺」获越南批准上市，中国动保企业从「引进来」向「走出去」转型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157984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2157984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157984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03520" y="22128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技术创新驱动增长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246888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Innovation Drives Growth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303520" y="267004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Zoetis布局手术机器人Ottava，礼蓝聚焦精准干预，五大慢性病（肾病/肿瘤/心脏/肥胖/焦虑）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419856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65760" y="3419856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419856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14400" y="3474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TOPS它博会行业风向标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" y="373075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TOPS Expo Industry Barometer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14400" y="39319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5月7-10日上海超10万m²盛会，国产品牌集体亮相，BI「预防先行」主题参展，行业格局生变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3419856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754880" y="3419856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3419856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303520" y="3474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618大促预热启动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03520" y="373075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618 E-Commerce Pre-Heating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303520" y="39319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下周进入618预售期，电商渠道竞争加剧，国产品牌价格优势持续蚕食外资份额，需提前备战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4681728"/>
            <a:ext cx="8412480" cy="43891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46817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行动建议：强化驱虫组合优势 + 加速猫糖尿病等慢病管线 + 备战618电商 + 强化「预防先行」品牌定位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 Pet Market &amp; Competitor Analysis 2026</dc:title>
  <dc:subject>PptxGenJS Presentation</dc:subject>
  <dc:creator>BI China Pet Health</dc:creator>
  <cp:lastModifiedBy>BI China Pet Health</cp:lastModifiedBy>
  <cp:revision>1</cp:revision>
  <dcterms:created xsi:type="dcterms:W3CDTF">2026-05-15T13:58:40Z</dcterms:created>
  <dcterms:modified xsi:type="dcterms:W3CDTF">2026-05-15T13:58:40Z</dcterms:modified>
</cp:coreProperties>
</file>