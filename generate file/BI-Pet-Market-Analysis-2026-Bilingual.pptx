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中国宠物市场与BI竞争分析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&amp; Boehringer Ingelheim</a:t>
            </a:r>
            <a:endParaRPr lang="en-US" sz="2000" dirty="0"/>
          </a:p>
          <a:p>
            <a:pPr algn="l" indent="0" marL="0">
              <a:buNone/>
            </a:pPr>
            <a:r>
              <a:rPr lang="en-US" sz="200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7432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市场洞察 | 竞品动态 | BI产品组合 | 趋势研判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 | Data as of May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4297680"/>
            <a:ext cx="1645920" cy="502920"/>
          </a:xfrm>
          <a:prstGeom prst="rect">
            <a:avLst/>
          </a:prstGeom>
          <a:solidFill>
            <a:srgbClr val="0097A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14173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4328" y="960120"/>
            <a:ext cx="19202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24328" y="960120"/>
            <a:ext cx="54864" cy="14173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61488" y="15087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61488" y="1764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91456" y="960120"/>
            <a:ext cx="19202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91456" y="960120"/>
            <a:ext cx="54864" cy="14173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6" name="Text 14"/>
          <p:cNvSpPr/>
          <p:nvPr/>
        </p:nvSpPr>
        <p:spPr>
          <a:xfrm>
            <a:off x="4928616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28616" y="15087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28616" y="1764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8584" y="960120"/>
            <a:ext cx="1920240" cy="1417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58584" y="960120"/>
            <a:ext cx="54864" cy="14173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1" name="Text 19"/>
          <p:cNvSpPr/>
          <p:nvPr/>
        </p:nvSpPr>
        <p:spPr>
          <a:xfrm>
            <a:off x="7095744" y="1069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95744" y="150876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CAGR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95744" y="1764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市场年复合增速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CAGR 2026-31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8229600" cy="45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全球市场 | Global Market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1920240" cy="11887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264.8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94360" y="35844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 USD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全球伴侣动物健康市场 (2025)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Companion Animal Health Market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24328" y="3154680"/>
            <a:ext cx="1920240" cy="11887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61488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514.8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761488" y="35844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 USD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61488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预计市场规模 (2032)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Market Size (2032)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91456" y="3154680"/>
            <a:ext cx="1920240" cy="11887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28616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928616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外资品牌主导高端处方药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Brands Lead High-End Rx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数据来源：央视网、前瞻网、中国畜牧业协会宠物产业分会、派读宠物行业大数据平台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宠物产品组合 | BI Pet Product Portfolio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犬用产品 | Canine Products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 (NexGard Spectra)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17556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异恶唑啉类药物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中国率先获批治疗犬疥螨、蠕形螨感染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Isoxazoline — first approved for canine demodicosis &amp; scabies in China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97764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06040"/>
            <a:ext cx="54864" cy="10972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697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 (Frontline)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99008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犬用体外驱虫滴剂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Topical ectoparasiticide for dogs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397764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8686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猫用产品 | Feline Products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397764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71600"/>
            <a:ext cx="54864" cy="10972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146304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NexGard COMBO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175564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猫用广谱抗寄生虫药物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首个且唯一获批治疗绦虫的猫用产品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&amp; only cat product approved for tapeworm treatment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606040"/>
            <a:ext cx="3977640" cy="10972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606040"/>
            <a:ext cx="54864" cy="10972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697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猫用糖尿病产品 ( upcoming 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3752" y="299008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计划推出高度创新的猫用糖尿病口服产品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innovative feline diabetes oral product in pipeline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在研管线亮点 | Pipeline Highlights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251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技术创新驱动下一增长点：手术机器人（Ottava — Zoetis）、AI辅助诊断、基因治疗、生物制剂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Zoetis | Key Competitor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51760" cy="9144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Annual Revenue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51760" cy="9144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~6,000亿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0" y="868680"/>
            <a:ext cx="2651760" cy="914400"/>
          </a:xfrm>
          <a:prstGeom prst="rect">
            <a:avLst/>
          </a:prstGeom>
          <a:solidFill>
            <a:srgbClr val="0097A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914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5大领域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7220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押注宠物慢性病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Chronic Disease Areas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押注宠物五大慢性病领域：慢性肾病、肿瘤学、心脏病学、肥胖症、焦虑症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与京东健康合作，打造宠物抗感染中心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诊断领域：与生物梅里埃合作建立「宠物临床微生物学示范实验室」（2025年8月）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3977640" cy="24231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920240"/>
            <a:ext cx="397764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920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703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消费者对产品质量、性价比及创新性要求不断提高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洞察：硕腾高壁垒、高毛利、高复购，但短期面临增速压力，慢性病布局为长期关键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竞品分析：礼蓝 &amp; 默沙东 | Elanco &amp; Merck Animal Health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礼蓝动保 Elanco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26517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173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2026年Q1财报将于5月6日公布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2026年4月23日海南召开「精准干预」大会，聚焦宠物健康管理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与Kuehne+Nagel（德迅）建立物流合作，扩大动物医疗保健物流能力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持续布局宠物医院渠道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3703320" cy="9601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260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关注点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Q1财报公布（5月6日）及中国业务指引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397764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默沙东动保 Merck Animal Health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3977640" cy="26517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41732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持续举办「宠物医院发展论坛」，构建「医宠互信」新生态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2024年7月完成收购礼蓝动保水产业务，扩大业务版图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持续参与北京宠物医师大会等行业重要会议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渠道策略对比 | Channel Strategy Comparison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外资品牌核心渠道：宠物医院仍是制高点 + 电商渠道快速增长（京东健康×硕腾合作）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77640" cy="3657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海正动保（重点关注）| Haizhou Animal Health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731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7315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3990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65506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 | 联合华中农业大学国家重点实验室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2025年2月面市，填补国产高端宠物疫苗空白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977640" cy="731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54864" cy="73152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221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47802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 | 获越南官方批准上市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77640" cy="731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71800"/>
            <a:ext cx="54864" cy="73152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0449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6A标准体系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30098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依托法莫山药业70年制药积淀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构建精品标准，提升竞争力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3977640" cy="7315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8679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业绩目标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" y="412394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订单破30万 | 业绩向10亿元迈进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868680"/>
            <a:ext cx="3977640" cy="3657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8686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其他国内竞品 | Other Domestic Players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1325880"/>
            <a:ext cx="3977640" cy="13716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3898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惠中动保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发布狗狗驱虫滴剂产品「倍宠恩」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788920"/>
            <a:ext cx="3977640" cy="9144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8529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12724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2026年4月29日举行投资者关系活动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794760"/>
            <a:ext cx="3977640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84048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Accelerating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40965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猫三联疫苗已实现国产集体突破，向高端药品市场渗透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数据来源：前瞻网、搜狐、雪球网、海正动保官方信息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Key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64592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03120" y="914400"/>
            <a:ext cx="18288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914400"/>
            <a:ext cx="18288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914400"/>
            <a:ext cx="182880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0" y="914400"/>
            <a:ext cx="1463040" cy="6400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914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海正（国内）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554480"/>
            <a:ext cx="164592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03120" y="155448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31920" y="155448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5544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驱虫药、抗感染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宠物健康管理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589520" y="1554480"/>
            <a:ext cx="146304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554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猫三联疫苗「海妙哆」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驱虫药「海乐旺」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219456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2194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31920" y="2194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760720" y="2194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健康管理方案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89520" y="21945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6A标准体系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2834640"/>
            <a:ext cx="164592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103120" y="283464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283464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60720" y="283464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物流合作K+N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589520" y="2834640"/>
            <a:ext cx="146304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国内渠道快速扩张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出海越南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3474720"/>
            <a:ext cx="1645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3474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103120" y="34747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8840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931920" y="34747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760720" y="34747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89520" y="34747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4114800"/>
            <a:ext cx="164592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114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103120" y="411480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4884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931920" y="411480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7764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760720" y="4114800"/>
            <a:ext cx="182880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4114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中国业务指引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增长压力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589520" y="4114800"/>
            <a:ext cx="1463040" cy="640080"/>
          </a:xfrm>
          <a:prstGeom prst="rect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35240" y="4114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高端药品突破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7200" y="1554480"/>
            <a:ext cx="1645920" cy="32004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1554480"/>
            <a:ext cx="1645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行业趋势观察 | Industry Trend Watch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77640" cy="1234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502920" cy="1234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41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2161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Substitution Deepening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51560" y="1435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猫三联疫苗国产集体突破后，海正动保等持续向高端宠物药品市场渗透，外资品牌份额面临压缩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3977640" cy="1234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68680"/>
            <a:ext cx="502920" cy="1234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8686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941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2161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Brands Go Global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4356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海正动保「海乐旺」获越南批准上市，标志着中国动保企业从「引进来」向「走出去」转型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3977640" cy="1234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40280"/>
            <a:ext cx="502920" cy="1234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402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2313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行业标准化进程加速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5877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Standardization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2807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农业农村部发布4项宠物领域行业标准，2026年5月1日实施，推动宠物行业规范化发展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3977640" cy="1234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40280"/>
            <a:ext cx="502920" cy="1234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2402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3134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5877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Innovation Drives Growth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28072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Zoetis布局手术机器人（Ottava），礼蓝聚焦精准干预，硕腾押注宠物五大慢性病领域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3977640" cy="1234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11880"/>
            <a:ext cx="502920" cy="1234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118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3685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渠道竞争多元化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39593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Competition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51560" y="41788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宠物医院仍是外资品牌核心阵地，电商渠道快速增长，线上线下融合趋势明显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611880"/>
            <a:ext cx="3977640" cy="123444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11880"/>
            <a:ext cx="502920" cy="123444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61188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6850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宠物健康管理升级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39593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97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 Mgmt Upgrade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41788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从治疗向预防转变，精准干预、个性化健康管理成为行业新趋势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市场持续扩容，2026年迈过3100亿大关，CAGR 5%，宠物药品市场约300亿元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5943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190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7190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BI超可信+NexGard COMBO组合优势明显，差异化竞争高端驱虫/抗寄生虫领域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8229600" cy="5943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323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432304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Zoetis/Elanco外资产能放缓，国产品牌性价比优势凸显，进口替代加速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8229600" cy="5943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455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145536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电商+医院双渠道布局，京东健康×硕腾合作显示线上线下融合趋势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8587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85876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技术创新为下一阶段竞争焦点：慢性病管理、手术机器人、基因治疗等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BI机遇：强化驱虫组合优势 + 加速猫糖尿病等慢病产品管线 + 深耕电商渠道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Pet Market &amp; BI Competitive Analysis 2026</dc:title>
  <dc:subject>PptxGenJS Presentation</dc:subject>
  <dc:creator>BI China Pet Health</dc:creator>
  <cp:lastModifiedBy>BI China Pet Health</cp:lastModifiedBy>
  <cp:revision>1</cp:revision>
  <dcterms:created xsi:type="dcterms:W3CDTF">2026-05-05T07:41:30Z</dcterms:created>
  <dcterms:modified xsi:type="dcterms:W3CDTF">2026-05-05T07:41:30Z</dcterms:modified>
</cp:coreProperties>
</file>