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宠物竞争者生态分析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竞品生态全景 · 五维对比 · 渠道策略 · 数字化机会 · 行动路线图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最新情报：Q1全球财报 · 海正动保深度 · 电商55%趋势 · 微信小程序蓝海 · 2025-2030路线图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数据截至：2026年5月30日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0624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| 核心摘要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822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内外同驱+猫用滴剂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BI超可信品类标杆，依从性提升30%+，CAGR 20%+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68680"/>
            <a:ext cx="54864" cy="82296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P0三大机会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252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猫+幼宠+室内猫同时启动，博来恩家庭装优先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828800"/>
            <a:ext cx="54864" cy="82296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内容种草+会员复购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电商55%份额，驱虫日历+AI提醒，会员复购率目标50%+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828800"/>
            <a:ext cx="54864" cy="82296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2026行动年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猫用滴剂新规格 + 幼宠首购 + 内容营销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788920"/>
            <a:ext cx="54864" cy="8229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25%+ 2030目标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172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建立预防医疗生态，不参与价格战，高端溢价定位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788920"/>
            <a:ext cx="54864" cy="822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三轨并进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172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医院（教育主阵地）+ 电商（销售主战场）+ O2O（即时渗透）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749040"/>
            <a:ext cx="54864" cy="82296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数字化复购闭环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微信小程序三件套：提醒-科普-档案，竞品生态几近空白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749040"/>
            <a:ext cx="54864" cy="82296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3776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驱虫药市场100→200亿+ CAGR 15-18%，规律驱虫率40→70%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数据截至：2026年5月30日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核心数据 &amp; 猫狗趋势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77824"/>
            <a:ext cx="1837944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397203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607058"/>
            <a:ext cx="1837944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中国宠物消费市场规模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（+4.1% YoY）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877824"/>
            <a:ext cx="1837944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24328" y="1397203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24328" y="1607058"/>
            <a:ext cx="1837944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城镇犬猫数量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（2025年）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877824"/>
            <a:ext cx="1837944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18888" y="1397203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1607058"/>
            <a:ext cx="1837944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（CAGR ~5%）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13448" y="877824"/>
            <a:ext cx="1837944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13448" y="1397203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13448" y="1607058"/>
            <a:ext cx="1837944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2031年宠物药品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市场规模预测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0233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94560"/>
            <a:ext cx="402336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94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67004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7,200万只，CAGR ~8%，已超越狗成为最大宠物品类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室内猫&gt;70%「不出门不驱虫」误区 → 最大认知缺口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猫三联疫苗国产突破：海正「海妙哆」2025年2月上市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博来恩（Broadline）：唯一猫用内外同驱滴剂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机会：猫用滴剂新规格 + 室内猫教育市场巨大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194560"/>
            <a:ext cx="42519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194560"/>
            <a:ext cx="4251960" cy="4114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194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🐶 狗狗市场 | Dog Market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2670048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5,400万只，增长趋于稳定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超可信（NexGard Spectra）：全球首款获批犬疥螨/蠕形螨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犬心保（Sentinel）：心丝虫预防独有优势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美国市场消费降级-11%，中国市场保持增长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机会：咀嚼片主场 + 幼宠首购 + 心丝虫教育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来源：《2026年中国宠物行业白皮书》、前瞻研究院  |  数据截至2026年5月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全球动保财报 | Global Animal Health Earnings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645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1645920" cy="73152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960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1031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美国伴侣-11% | 国际+17%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280160" cy="13716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5月7日下调利润预测，股价暴跌~21%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0" y="804672"/>
            <a:ext cx="1645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804672"/>
            <a:ext cx="1645920" cy="7315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960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10.4亿美元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4832" y="1737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1031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Zenrelia&gt;50%诊所 | Quattro份额53%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94560" y="2834640"/>
            <a:ext cx="1280160" cy="13716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0" name="Text 18"/>
          <p:cNvSpPr/>
          <p:nvPr/>
        </p:nvSpPr>
        <p:spPr>
          <a:xfrm>
            <a:off x="208483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 | 新兴市场承压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49040" y="804672"/>
            <a:ext cx="1645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804672"/>
            <a:ext cx="1645920" cy="73152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960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2219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22192" y="1737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22192" y="21031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多元化组合稳健 | 医院渠道深耕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31920" y="2834640"/>
            <a:ext cx="1280160" cy="13716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8" name="Text 26"/>
          <p:cNvSpPr/>
          <p:nvPr/>
        </p:nvSpPr>
        <p:spPr>
          <a:xfrm>
            <a:off x="382219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Bravecto持续布局中国准入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0" y="804672"/>
            <a:ext cx="1645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804672"/>
            <a:ext cx="1645920" cy="73152"/>
          </a:xfrm>
          <a:prstGeom prst="rect">
            <a:avLst/>
          </a:prstGeom>
          <a:solidFill>
            <a:srgbClr val="E8FFF2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960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5955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3.84亿€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59552" y="1737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+7.7%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9552" y="21031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宠物+9.9% | 北美+20.7%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69280" y="2834640"/>
            <a:ext cx="1280160" cy="13716"/>
          </a:xfrm>
          <a:prstGeom prst="rect">
            <a:avLst/>
          </a:prstGeom>
          <a:solidFill>
            <a:srgbClr val="E8FFF2"/>
          </a:solidFill>
          <a:ln/>
        </p:spPr>
      </p:sp>
      <p:sp>
        <p:nvSpPr>
          <p:cNvPr id="36" name="Text 34"/>
          <p:cNvSpPr/>
          <p:nvPr/>
        </p:nvSpPr>
        <p:spPr>
          <a:xfrm>
            <a:off x="555955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Supercharge平台 | 收购猫甲亢药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23760" y="804672"/>
            <a:ext cx="1645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804672"/>
            <a:ext cx="1645920" cy="73152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960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96912" y="13716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宠物占55%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96912" y="1737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96912" y="21031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海乐妙2亿/年 | 85%研发投宠物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06640" y="2834640"/>
            <a:ext cx="1280160" cy="13716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44" name="Text 42"/>
          <p:cNvSpPr/>
          <p:nvPr/>
        </p:nvSpPr>
        <p:spPr>
          <a:xfrm>
            <a:off x="7296912" y="29260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出海首站越南获批 | 处方粮基地2027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核心洞察：美国宠物市场消费降级（硕腾-11%、礼蓝-3%），中国成跨国必争高地。海正动保国产替代加速，已占猫驱虫市占率第一。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来源：各公司Q1 2026财报 / Earnings Calls  |  非官方数据仅供内部参考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竞争格局总览 | Competitor Landscape — 五大竞品快照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71323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勃林格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6款（超可信/博来恩/福来恩/尼可信/犬心保/福味恩）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唯一全剂型覆盖 + 异恶唑啉创新药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18488"/>
            <a:ext cx="54864" cy="713232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2款（大宠爱/妙宠爱）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单品最大（大宠爱3.6亿）+ 慢性病生态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14016"/>
            <a:ext cx="54864" cy="71323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59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3款（可立奥/索来多/拜宠清）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Zenrelia/Quattro放量 + 项圈独占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09544"/>
            <a:ext cx="54864" cy="713232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1款（贝卫多 BRAVECTO）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12周长效差异 + 医院渠道深耕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05072"/>
            <a:ext cx="54864" cy="713232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 Hisun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5款（海乐妙/海乐旺/莫爱佳/喜倍安/赛乐滴）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猫驱虫市占率第一 + 国产替代龙头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关键洞察：BI唯一全剂型覆盖（咀嚼片+口服+滴剂），硕腾单品最大但产品线少，海正产品数量追赶外资（5款），国产替代加速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驱虫药产品线 | Product Portfolio — 6款核心产品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02920"/>
                <a:gridCol w="640080"/>
                <a:gridCol w="640080"/>
                <a:gridCol w="1828800"/>
                <a:gridCol w="68580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产品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靶动物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剂型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驱虫类型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核心成分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2025销量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竞争优势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超可信 NexGard Spectra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犬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咀嚼片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内外同驱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阿福太纳+米尔贝霉素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1.44亿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全球首款获批犬疥螨/蠕形螨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博来恩 Broadline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猫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滴剂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内外同驱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复方（非泼罗尼+甲氧普烯+吡喹酮+乙酰氨基阿维菌素）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1.08亿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唯一猫用内外同驱滴剂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福来恩 Frontline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犬/猫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滴剂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外驱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非泼罗尼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1.44亿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经典品牌，渠道覆盖广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尼可信 NexGard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犬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咀嚼片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外驱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阿福太纳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0.72亿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与超可信互补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犬心保 Sentinel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犬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口服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内驱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伊维菌素/哌嗪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0.60亿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心丝虫预防独有优势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福味恩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犬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口服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外驱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非泼罗尼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0.48亿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2D2C"/>
                          </a:solidFill>
                        </a:rPr>
                        <a:t>福来恩同系列，口服剂型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BI产品线优势：唯一全剂型覆盖（咀嚼片×2 + 口服×1 + 滴剂×3），异恶唑啉类创新药技术壁垒高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 深度档案 | Deep Dive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60520" cy="36576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产品对比 | BI vs Zoetis 驱虫药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3520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914400"/>
                <a:gridCol w="960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BI产品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2025销量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硕腾产品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2025销量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超可信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1.44亿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大宠爱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3.6亿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博来恩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1.08亿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妙宠爱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1.8亿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福来恩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1.44亿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BI差异化：超可信率先获批犬疥螨/蠕形螨（异恶唑啉类），硕腾大宠爱单品销量3.6亿但产品线单一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09160" y="804672"/>
            <a:ext cx="41605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04672"/>
            <a:ext cx="4160520" cy="36576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804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战略动向 | Strategic Moves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32588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业绩预警：5月7日下调2026利润预测，股价暴跌~21%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押注五大慢性病：慢性肾病/肿瘤/心脏病/肥胖症/焦虑症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与京东健康合作宠物抗感染中心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与生物梅里埃合作「宠物临床微生物学示范实验室」（2025.8）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 Ottava 布局未来兽医手术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Apoquel（奥拉替尼）全球爆款皮肤科产品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3611880"/>
            <a:ext cx="8595360" cy="64008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2026: 23亿美元 +3% | 美国伴侣动物 -11% | 国际 +17% | 中国市场增长但面临国产替代压力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 · 默沙东 MSD · 维克 Virbac | 关键数据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7889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2026: 10.4亿美元 -3%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 覆盖 &gt;50% 美国诊所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 渗透 40% 美国诊所（份额 53%）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 33亿美元，新兴市场承压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中国产品线：可立奥/索来多/拜宠清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项圈品类独占（索来多），无直接竞品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04672"/>
            <a:ext cx="278892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804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298448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2026: 18亿美元 +13%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多元化组合稳健增长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贝卫多（BRAVECTO）12周长效差异化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持续布局中国市场准入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举办「宠物医院发展论坛」深耕兽医渠道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数字化几乎空白（微博/微信/小红书均无）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04672"/>
            <a:ext cx="2788920" cy="384048"/>
          </a:xfrm>
          <a:prstGeom prst="rect">
            <a:avLst/>
          </a:prstGeom>
          <a:solidFill>
            <a:srgbClr val="E8FFF2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804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298448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2026: 3.84亿€ +7.7%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 +9.9%，北美 +20.7%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「Supercharge」平台涵盖宠物全流程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2025年12月收购猫甲亢药 Thyronorm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中国市场布局较晚，规模较小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关注：可能加大中国投入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7033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渠道共识：宠物医院（制高点）+ 电商快速增长（驱虫药电商占55%份额），外资品牌数字化营销几乎空白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核心挤压点：硕腾 + 礼蓝 + MSD 合计占据中国宠物驱虫药高端市场约65%份额，海正以性价比+国产替代路线在猫驱虫领域反超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海正动保深度档案 | Hisun Animal Health Deep Dive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从「两条腿走路」到「宠物为核心+出海」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宠物业务占营收 55%，持续提升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研发投入85%倾注宠物领域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每年4-6款新品上市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处方粮基地2026下半年开工，2027底投产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国内处方粮渗透率&lt;1%（海外25%），蓝海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04672"/>
            <a:ext cx="283464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海乐妙：猫驱虫市占率第一，年销2亿元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海妙哆：国产猫三联疫苗，2025.2上市，定价高于进口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海乐旺：出海首秀成功，已获越南批准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莫爱佳（莫西克丁）：内外同驱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喜倍安 / 赛乐滴（塞拉菌素）：外驱滴剂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3款滴剂贴身竞争BI/硕腾滴剂市场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「药粮联动」或重塑宠物健康格局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804672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804672"/>
            <a:ext cx="256032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804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对BI的威胁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28016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海乐妙直接冲击BI猫驱虫线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猫驱虫市占率已被超越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猫三联疫苗（海妙哆）建立兽医粘性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处方粮拓展可能形成「药+粮」闭环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出海步伐快于BI中国（越南已获批）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价格优势 + 品质提升 = 性价比挑战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每年4-6款新品上市速度超越外资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 五维对比 | Five-Dimension Comparison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74520"/>
                <a:gridCol w="187452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 勃林格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硕腾 Zoetis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礼蓝 Elanco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海正 Hisun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2D2C"/>
                          </a:solidFill>
                        </a:rPr>
                        <a:t>核心产品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超可信/NexGard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博来恩/Broadline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6款产品线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大宠爱/妙宠爱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Apoquel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2款驱虫药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可立奥/Credelio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索来多/Seresto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3款产品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海乐妙/海妙哆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海乐旺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5款产品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2D2C"/>
                          </a:solidFill>
                        </a:rPr>
                        <a:t>技术优势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异恶唑啉类创新药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唯一全剂型覆盖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犬疥螨/蠕形螨获批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手术机器人Ottava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慢性病五大管线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塞拉菌素平台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JAK抑制剂Zenrelia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Credelio Quattro放量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项圈独占品类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原料药自产/6A标准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猫三联疫苗突破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每年4-6款新品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2D2C"/>
                          </a:solidFill>
                        </a:rPr>
                        <a:t>渠道策略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宠物医院+电商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京东健康全域合作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TOPS它博会参展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医院为主+京东健康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专业兽医教育体系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诊断+药物联动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医院深耕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K+N物流体系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与硕腾错位竞争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电商增速80%+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医院布局加速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出海越南首站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2D2C"/>
                          </a:solidFill>
                        </a:rPr>
                        <a:t>市场定位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高端驱虫/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抗寄生虫专家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高价值处方药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慢性病管理生态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预防+治疗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精准干预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性价比路线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国产替代龙头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2D2C"/>
                          </a:solidFill>
                        </a:rPr>
                        <a:t>主要挑战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国产性价比竞争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口服内驱线薄弱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数字化起步晚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美国-11%拖累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增速放缓警告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产品线老旧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净负债33亿美元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新兴市场承压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中国市场弱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高端突破难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国际化初期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2D2C"/>
                          </a:solidFill>
                        </a:rPr>
                        <a:t>品牌溢价不足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537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BI核心优势：唯一全剂型覆盖 + 异恶唑啉创新药壁垒 | 核心短板：口服内驱线仅犬心保，相对薄弱，数字化起步较晚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产品机会优先级矩阵 | Product Priority Matrix P0–P3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914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78408"/>
            <a:ext cx="1463040" cy="320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78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★★★★★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941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猫用内外同驱滴剂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3441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最大增量市场，室内猫误区大，博来恩家庭装优先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1527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目标：猫驱虫市场份额+5pct | 策略：室内猫教育 + 多宠家庭 + 新规格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73152" cy="9144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84248"/>
            <a:ext cx="1463040" cy="32004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★★★★☆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犬用超可信咀嚼片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23500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市场规模大，兽医信任度高，差异化明显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25328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目标：巩固犬驱虫高端地位 | 策略：CVTD兽医教育 + 心丝虫联合推广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73152" cy="9144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90088"/>
            <a:ext cx="1463040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★★★★☆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2953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猫用单方滴剂（室内猫入门）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33558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入门级替代，教育→升级路径，多宠家庭场景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3538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目标：触达价格敏感用户 | 策略：首购优惠 + 小规格 + 京东/天猫内容种草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88620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86200"/>
            <a:ext cx="73152" cy="914400"/>
          </a:xfrm>
          <a:prstGeom prst="rect">
            <a:avLst/>
          </a:prstGeom>
          <a:solidFill>
            <a:srgbClr val="898885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995928"/>
            <a:ext cx="1463040" cy="320040"/>
          </a:xfrm>
          <a:prstGeom prst="rect">
            <a:avLst/>
          </a:prstGeom>
          <a:solidFill>
            <a:srgbClr val="89888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95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★★★☆☆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57400" y="39593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犬用口服/咀嚼片（单方）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57400" y="43616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稳定支撑，市场份额防守，成本优势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57400" y="45445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目标：保持份额 | 策略：组合拳（超可信+尼可信+福来恩+犬心保）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 | Channel Strategy — 电商55% + 医院25% + O2O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73152" cy="8961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41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电商平台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896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969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941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销售主战场 × 品牌建设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京东健康全域合作 | 站内品牌专区 | 内容种草+搜索卡位 | 会员复购体系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92224"/>
            <a:ext cx="73152" cy="89611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9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宠物医院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18836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26080" y="19568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+5-8%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1929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教育主阵地 × 首购来源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2951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CVTD兽医教育 | 超可信临床证据 | 犬心丝虫筛查 | 驱虫组合拳推荐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79776"/>
            <a:ext cx="73152" cy="896112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16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宠物店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8712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26080" y="29443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持平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补充渠道 × 即时购买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826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品牌陈列标准化 | 即时需求满足 | 与O2O联动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767328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67328"/>
            <a:ext cx="73152" cy="89611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O2O平台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8587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926080" y="3931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即时需求 × 下沉渗透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270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美团/饿了么入驻 | 30分钟达 | 下沉城市覆盖 | 新用户触达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数字化营销竞品差距 | Digital Marketing Gap Analysis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731520"/>
                <a:gridCol w="822960"/>
                <a:gridCol w="1097280"/>
                <a:gridCol w="82296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品牌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官网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微博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微信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小红书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活跃度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数字化软肋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硕腾 Zoetis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✅ 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⚠️ UGC为主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保守、依赖线下兽医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MSD 贝卫多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极低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几乎无数字存在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礼蓝 Elanco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✅ 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⚠️ 零星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极低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最弱数字化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海正动保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⚠️ 展会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⚠️ 公司号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⚠️ 种草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中等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有声音，缺社媒体系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BI 勃林格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需加强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需加强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需加强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需提升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数字化先发优势窗口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核心发现：宠物驱虫药行业整体数字化水平极低，外资品牌几乎全部缺席社交媒体 — 蓝海窗口期，BI若率先投入拥有先发优势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微信小程序机会 | WeChat Mini-Program — 「提醒—科普—档案」闭环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4320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宠物驱虫提醒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蚊子/蜱虫季节主动推送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用药周期提醒 + 复购提醒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京东/天猫直达购买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多宠家庭管理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3154680"/>
            <a:ext cx="1828800" cy="5669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提升用药依从性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带动复购率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43891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22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驱虫知识问答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AI宠物医生常见问答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寄生虫百科（图鉴+危害）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产品对比查询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症状自检引导就医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3154680"/>
            <a:ext cx="1828800" cy="5669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专业背书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辅助购买决策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743200" cy="43891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822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宠物健康档案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371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宠物基本信息录入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用药记录历史追踪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一键预约宠物医院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用户画像数据获取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37960" y="3154680"/>
            <a:ext cx="1828800" cy="5669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获取一手机主数据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锁定用户粘性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竞品微信生态几乎空白 → BI若率先建立宠物主人数据资产，可形成差异化壁垒。三个小程序形成服务闭环，从提醒→科普→档案全链路锁定用户。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六大行业趋势 | Industry Trends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502920" cy="11430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78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海正等国产企业持续向高端宠物药品市场渗透，海乐妙已取得猫驱虫市占率第一，海妙哆定价高于进口品牌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41248"/>
            <a:ext cx="502920" cy="11430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78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2984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海正海乐旺获越南批准，出海成战略重点；未来东南亚、一带一路或成中国宠药出海主战场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21408"/>
            <a:ext cx="502920" cy="11430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美国宠物消费降级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578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硕腾Q1美国伴侣动物-11%，礼蓝-3%；中国市场虽保持增长但需警惕消费降级传导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12140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21408"/>
            <a:ext cx="502920" cy="11430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258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578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礼蓝Zenrelia/Quattro放量是唯一确定性路径；BI异恶唑啉创新药差异化优势需持续强化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01568"/>
            <a:ext cx="502920" cy="11430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538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电商占驱虫药55%份额且+20% YoY，O2O+30%爆发；医院渠道仍为首购信任入口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40156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401568"/>
            <a:ext cx="502920" cy="11430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538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农业农村部发布4项宠物领域行业标准（2026年5月1日实施），合规门槛提升利好头部企业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关键风险与应对 | Key Risks &amp; Mitigation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风险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影响程度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应对策略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本土品牌低价抢占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不参与价格战；强化高端溢价定位；突出临床证据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消费者价格敏感上升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中高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首购优惠+小规格；教育规律驱虫价值；会员体系锁定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兽医渠道话语权下降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8A68"/>
                          </a:solidFill>
                        </a:rPr>
                        <a:t>中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CVTD教育持续投入；诊断+驱虫联动；数字化辅助工具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电商流量成本上涨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8A68"/>
                          </a:solidFill>
                        </a:rPr>
                        <a:t>中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私域流量建设（小程序）；内容种草降低获客成本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新进入者（国产+跨界）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8800"/>
                          </a:solidFill>
                        </a:rPr>
                        <a:t>中低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技术壁垒（异恶唑啉）；品牌壁垒；渠道壁垒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2D2C"/>
                          </a:solidFill>
                        </a:rPr>
                        <a:t>猫咪增长低于预期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8800"/>
                          </a:solidFill>
                        </a:rPr>
                        <a:t>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</a:rPr>
                        <a:t>猫/狗双线并进；幼宠首购锁定；多宠家庭方案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98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核心原则：不参与价格战，用临床证据+品牌溢价+数字化服务构建护城河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2025-2030 分阶段路线图 | Phased Roadmap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3611880"/>
            <a:ext cx="859536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788920" cy="4114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9144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8046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2025-2026 短期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建立壁垒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猫用滴剂新规格上市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CVTD兽医教育强化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抖音/小红书内容种草启动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驱虫日历小程序上线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幼宠首购计划落地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电商精细化运营（搜索卡位）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2514600" cy="1828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市场份额 +3pct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04672"/>
            <a:ext cx="2788920" cy="411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9144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8046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2027-2028 中期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扩大份额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4173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O2O渠道全面铺开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室内猫专属产品线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年度驱虫订阅制上线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多宠家庭组合方案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猫狗全线产品覆盖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挑战NO.2位置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291840"/>
            <a:ext cx="2514600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会员复购率 50%+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804672"/>
            <a:ext cx="27889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8046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2029-2030 长期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生态主导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14173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AI个性化驱虫方案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全品类宠物健康生态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预防医疗生态闭环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东南亚出海布局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兽医在线问诊平台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25%+ 市场份额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3291840"/>
            <a:ext cx="2514600" cy="1828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25%+ 市场份额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总结与行动建议 | Summary &amp; Action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78892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278892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05840"/>
            <a:ext cx="457200" cy="320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加速猫糖尿病等慢病管线布局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补齐数字化工具缺口（小程序三件套+驱虫提醒+宠物档案）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猫用内外同驱滴剂新规格上市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幼宠首购计划 + 室内猫教育市场启动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41248"/>
            <a:ext cx="278892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841248"/>
            <a:ext cx="2788920" cy="7315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005840"/>
            <a:ext cx="457200" cy="32004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强化驱虫组合优势（超可信+博来恩+福来恩组合拳）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电商渠道精细化运营（内容种草+搜索卡位+京东健康深化）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CVTD兽医教育持续投入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微信小程序闭环上线（提醒→科普→档案）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841248"/>
            <a:ext cx="278892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841248"/>
            <a:ext cx="2788920" cy="73152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005840"/>
            <a:ext cx="457200" cy="32004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关注一带一路出海机遇（海正已获越南批文）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行业标准合规领先（5月1日实施的4项行业标准）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O2O渠道下沉布局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年度驱虫订阅制探索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859536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BI中国宠物健康 | 数据截至：2026年5月30日 | 非官方披露数据仅供内部使用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BI宠物竞争者生态分析 2026</dc:title>
  <dc:subject>PptxGenJS Presentation</dc:subject>
  <dc:creator>BI China Pet Health</dc:creator>
  <cp:lastModifiedBy>BI China Pet Health</cp:lastModifiedBy>
  <cp:revision>1</cp:revision>
  <dcterms:created xsi:type="dcterms:W3CDTF">2026-05-30T12:34:47Z</dcterms:created>
  <dcterms:modified xsi:type="dcterms:W3CDTF">2026-05-30T12:34:47Z</dcterms:modified>
</cp:coreProperties>
</file>