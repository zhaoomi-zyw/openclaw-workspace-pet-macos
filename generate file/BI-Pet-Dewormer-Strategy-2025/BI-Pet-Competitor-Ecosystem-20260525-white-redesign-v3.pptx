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8" r:id="rId5"/>
    <p:sldId id="259" r:id="rId6"/>
    <p:sldId id="260" r:id="rId7"/>
    <p:sldId id="261" r:id="rId8"/>
    <p:sldId id="262" r:id="rId9"/>
    <p:sldId id="270" r:id="rId10"/>
    <p:sldId id="271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Y XU" userId="52f0466bda2ee3ba" providerId="LiveId" clId="{72F62F6C-C739-49DD-8672-8AEC33E2ECBD}"/>
    <pc:docChg chg="modSld">
      <pc:chgData name="LILY XU" userId="52f0466bda2ee3ba" providerId="LiveId" clId="{72F62F6C-C739-49DD-8672-8AEC33E2ECBD}" dt="2026-05-25T10:05:58.878" v="1" actId="1076"/>
      <pc:docMkLst>
        <pc:docMk/>
      </pc:docMkLst>
      <pc:sldChg chg="modSp mod">
        <pc:chgData name="LILY XU" userId="52f0466bda2ee3ba" providerId="LiveId" clId="{72F62F6C-C739-49DD-8672-8AEC33E2ECBD}" dt="2026-05-25T10:05:58.878" v="1" actId="1076"/>
        <pc:sldMkLst>
          <pc:docMk/>
          <pc:sldMk cId="2918037694" sldId="270"/>
        </pc:sldMkLst>
        <pc:spChg chg="mod">
          <ac:chgData name="LILY XU" userId="52f0466bda2ee3ba" providerId="LiveId" clId="{72F62F6C-C739-49DD-8672-8AEC33E2ECBD}" dt="2026-05-25T10:05:58.878" v="1" actId="1076"/>
          <ac:spMkLst>
            <pc:docMk/>
            <pc:sldMk cId="2918037694" sldId="270"/>
            <ac:spMk id="13" creationId="{E1DD050C-6A3E-ED1E-63BB-43F4CF53F38D}"/>
          </ac:spMkLst>
        </pc:spChg>
        <pc:spChg chg="mod">
          <ac:chgData name="LILY XU" userId="52f0466bda2ee3ba" providerId="LiveId" clId="{72F62F6C-C739-49DD-8672-8AEC33E2ECBD}" dt="2026-05-25T10:05:56.270" v="0" actId="1076"/>
          <ac:spMkLst>
            <pc:docMk/>
            <pc:sldMk cId="2918037694" sldId="270"/>
            <ac:spMk id="14" creationId="{7CF03E3A-4367-34DC-77F6-E8365C67B0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6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94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月竞品池确认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国产替代深化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渠道与数字化机会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BI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中国宠物驱虫竞争格局 </a:t>
            </a:r>
            <a:r>
              <a:rPr lang="en-US" altLang="zh-CN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Q1| China Pet Dewormer Competitive Snapshot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reported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</a:t>
            </a:r>
            <a:r>
              <a:rPr lang="en-US" altLang="zh-CN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/ +10% organic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▼美国伴侣动物产品销售下降 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11%</a:t>
            </a:r>
          </a:p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高端宠物护理承压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0574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822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316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13.71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258568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23042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Quattro</a:t>
            </a: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放量</a:t>
            </a:r>
            <a:endParaRPr lang="en-US" altLang="zh-CN" sz="850" dirty="0">
              <a:solidFill>
                <a:srgbClr val="EE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（未在中国销售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净负债约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33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亿美元，杠杆仍高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818388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818388"/>
            <a:ext cx="2057400" cy="457200"/>
          </a:xfrm>
          <a:prstGeom prst="rect">
            <a:avLst/>
          </a:prstGeom>
          <a:solidFill>
            <a:srgbClr val="1F7F7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63640" y="8183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3121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16596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19339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72200" y="2253996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63640" y="22997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28483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</a:t>
            </a:r>
            <a:r>
              <a:rPr lang="en-US" sz="850" dirty="0" err="1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宠物线相对平淡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消费分层与价格敏感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宠主比价、复购和大促行为增强，高端外资品牌需要用专业价值抵御价格战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创新与便利性共同驱动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长效、省心、内外同驱、猫友好剂型成为差异化表达核心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中国市场进入运营战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医院专业背书、电商搜索卡位、私域复购提醒需要形成闭环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/ Elanco / Merck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官方财报；公开资料与市场观察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 </a:t>
            </a:r>
            <a:r>
              <a:rPr lang="en-US" altLang="zh-CN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Parasiticide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FEE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3152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事件：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下调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利润预期；宠主价格敏感、兽医就诊减少，高端宠物护理承压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96.8-99.6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收入指引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Guidance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Companion Animal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驱虫药产品线 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Parasiticide 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赛拉菌素；体内外寄生虫及心丝虫预防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01568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 Plus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685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沙罗拉纳；跳蚤、蜱虫、耳螨等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4023360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Shape 36"/>
          <p:cNvSpPr/>
          <p:nvPr/>
        </p:nvSpPr>
        <p:spPr>
          <a:xfrm>
            <a:off x="4709160" y="2286000"/>
            <a:ext cx="40233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302939"/>
            <a:ext cx="3840480" cy="188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利润预警：宠主削减开支、减少就诊，高端宠物护理承压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</a:t>
            </a:r>
            <a:r>
              <a:rPr lang="en-US" altLang="zh-CN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妙宠爱在中国核心是犬猫滴剂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猫端仍以滴剂便利性、安全感和兽医推荐为关键竞争点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352544"/>
            <a:ext cx="8412480" cy="438912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" y="43799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洞察：硕腾在中国驱虫核心资产是大宠爱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妙宠爱的犬猫滴剂心智。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犬端应突出超可信口服内外同驱与高阶预防；猫端重点对标滴剂便利性与猫主接受度。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官方财报、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中国大宠爱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妙宠爱公开资料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C457645-FE5E-9345-36D1-BF60357B2B8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2D3E2C-9BA6-10C9-907B-85C97024DA00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762116-0467-A908-06E2-AAC32BBCF04D}"/>
              </a:ext>
            </a:extLst>
          </p:cNvPr>
          <p:cNvSpPr txBox="1"/>
          <p:nvPr/>
        </p:nvSpPr>
        <p:spPr>
          <a:xfrm>
            <a:off x="355600" y="317500"/>
            <a:ext cx="8432800" cy="32060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宠物驱虫产品与主要竞品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BI Portfolio &amp; Competitive Products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EE7167-C6B1-C604-8BFD-4C237009C7AE}"/>
              </a:ext>
            </a:extLst>
          </p:cNvPr>
          <p:cNvSpPr/>
          <p:nvPr/>
        </p:nvSpPr>
        <p:spPr>
          <a:xfrm>
            <a:off x="279400" y="1041400"/>
            <a:ext cx="1346200" cy="355600"/>
          </a:xfrm>
          <a:prstGeom prst="rect">
            <a:avLst/>
          </a:prstGeom>
          <a:solidFill>
            <a:srgbClr val="00352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AD4BF8-3D3E-E6BF-AB99-E0ABBC8C1B6A}"/>
              </a:ext>
            </a:extLst>
          </p:cNvPr>
          <p:cNvSpPr txBox="1"/>
          <p:nvPr/>
        </p:nvSpPr>
        <p:spPr>
          <a:xfrm>
            <a:off x="317500" y="1079500"/>
            <a:ext cx="1270000" cy="14670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产品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70D0A6-1F64-0FCB-D05D-9F6448FC8E47}"/>
              </a:ext>
            </a:extLst>
          </p:cNvPr>
          <p:cNvSpPr/>
          <p:nvPr/>
        </p:nvSpPr>
        <p:spPr>
          <a:xfrm>
            <a:off x="1625600" y="1041400"/>
            <a:ext cx="1422400" cy="355600"/>
          </a:xfrm>
          <a:prstGeom prst="rect">
            <a:avLst/>
          </a:prstGeom>
          <a:solidFill>
            <a:srgbClr val="00352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F41476-2890-194A-3207-355AB38F29E5}"/>
              </a:ext>
            </a:extLst>
          </p:cNvPr>
          <p:cNvSpPr txBox="1"/>
          <p:nvPr/>
        </p:nvSpPr>
        <p:spPr>
          <a:xfrm>
            <a:off x="1663700" y="1079500"/>
            <a:ext cx="1346200" cy="14670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适用</a:t>
            </a:r>
            <a:r>
              <a:rPr lang="en-US" altLang="zh-CN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剂型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6BAD68-FC0A-FF48-CBFA-38491671317B}"/>
              </a:ext>
            </a:extLst>
          </p:cNvPr>
          <p:cNvSpPr/>
          <p:nvPr/>
        </p:nvSpPr>
        <p:spPr>
          <a:xfrm>
            <a:off x="3048000" y="1041400"/>
            <a:ext cx="1524000" cy="355600"/>
          </a:xfrm>
          <a:prstGeom prst="rect">
            <a:avLst/>
          </a:prstGeom>
          <a:solidFill>
            <a:srgbClr val="00352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EE9327-C8A0-675D-B8AD-4CFCF44F7379}"/>
              </a:ext>
            </a:extLst>
          </p:cNvPr>
          <p:cNvSpPr txBox="1"/>
          <p:nvPr/>
        </p:nvSpPr>
        <p:spPr>
          <a:xfrm>
            <a:off x="3086100" y="1079500"/>
            <a:ext cx="1447800" cy="14670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产品角色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E8CE28-2ED7-B263-C8FB-1FA29FAA2AEA}"/>
              </a:ext>
            </a:extLst>
          </p:cNvPr>
          <p:cNvSpPr/>
          <p:nvPr/>
        </p:nvSpPr>
        <p:spPr>
          <a:xfrm>
            <a:off x="4572000" y="1041400"/>
            <a:ext cx="2311400" cy="355600"/>
          </a:xfrm>
          <a:prstGeom prst="rect">
            <a:avLst/>
          </a:prstGeom>
          <a:solidFill>
            <a:srgbClr val="00352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7EB3E2-D40B-E113-2A23-5CB19FD3CB37}"/>
              </a:ext>
            </a:extLst>
          </p:cNvPr>
          <p:cNvSpPr txBox="1"/>
          <p:nvPr/>
        </p:nvSpPr>
        <p:spPr>
          <a:xfrm>
            <a:off x="4610100" y="1079500"/>
            <a:ext cx="2235200" cy="14670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主要竞品产品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9D5C6A-4974-6A89-A219-50A688967C80}"/>
              </a:ext>
            </a:extLst>
          </p:cNvPr>
          <p:cNvSpPr/>
          <p:nvPr/>
        </p:nvSpPr>
        <p:spPr>
          <a:xfrm>
            <a:off x="6883400" y="1041400"/>
            <a:ext cx="1981200" cy="355600"/>
          </a:xfrm>
          <a:prstGeom prst="rect">
            <a:avLst/>
          </a:prstGeom>
          <a:solidFill>
            <a:srgbClr val="00352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6F5C31-F234-EAF7-F47F-47E2BAAEF751}"/>
              </a:ext>
            </a:extLst>
          </p:cNvPr>
          <p:cNvSpPr txBox="1"/>
          <p:nvPr/>
        </p:nvSpPr>
        <p:spPr>
          <a:xfrm>
            <a:off x="6921500" y="1079500"/>
            <a:ext cx="1905000" cy="14670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620" b="1">
                <a:solidFill>
                  <a:srgbClr val="FFFFFF"/>
                </a:solidFill>
                <a:latin typeface="Microsoft YaHei" panose="020B0503020204020204" pitchFamily="34" charset="-122"/>
              </a:rPr>
              <a:t>打法重点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E5F733-A109-BE5B-2A89-BD74E5D094A0}"/>
              </a:ext>
            </a:extLst>
          </p:cNvPr>
          <p:cNvSpPr/>
          <p:nvPr/>
        </p:nvSpPr>
        <p:spPr>
          <a:xfrm>
            <a:off x="279400" y="1397000"/>
            <a:ext cx="1346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543D2B-38D8-4B87-56CF-EC2C6A999276}"/>
              </a:ext>
            </a:extLst>
          </p:cNvPr>
          <p:cNvSpPr txBox="1"/>
          <p:nvPr/>
        </p:nvSpPr>
        <p:spPr>
          <a:xfrm>
            <a:off x="317500" y="14351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超可信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NexGard Spectra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AAC335-6F41-6890-C3AB-7B57F47B9AD1}"/>
              </a:ext>
            </a:extLst>
          </p:cNvPr>
          <p:cNvSpPr/>
          <p:nvPr/>
        </p:nvSpPr>
        <p:spPr>
          <a:xfrm>
            <a:off x="1625600" y="1397000"/>
            <a:ext cx="1422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0B0514-1BF6-419F-F767-47DDE7366A07}"/>
              </a:ext>
            </a:extLst>
          </p:cNvPr>
          <p:cNvSpPr txBox="1"/>
          <p:nvPr/>
        </p:nvSpPr>
        <p:spPr>
          <a:xfrm>
            <a:off x="1663700" y="14351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犬；口服咀嚼片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内外同驱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D1C4D3-83EB-0951-DD42-42ABFF7CAAE5}"/>
              </a:ext>
            </a:extLst>
          </p:cNvPr>
          <p:cNvSpPr/>
          <p:nvPr/>
        </p:nvSpPr>
        <p:spPr>
          <a:xfrm>
            <a:off x="3048000" y="1397000"/>
            <a:ext cx="15240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456753-560B-A462-706D-CDDE57CEDFD0}"/>
              </a:ext>
            </a:extLst>
          </p:cNvPr>
          <p:cNvSpPr txBox="1"/>
          <p:nvPr/>
        </p:nvSpPr>
        <p:spPr>
          <a:xfrm>
            <a:off x="3086100" y="14351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犬端高阶预防核心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561BCA-FD52-1BB4-11AE-540F5FA69DB3}"/>
              </a:ext>
            </a:extLst>
          </p:cNvPr>
          <p:cNvSpPr/>
          <p:nvPr/>
        </p:nvSpPr>
        <p:spPr>
          <a:xfrm>
            <a:off x="4572000" y="1397000"/>
            <a:ext cx="2311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214B6BB-D9C6-7589-5934-2ACFA43E78C8}"/>
              </a:ext>
            </a:extLst>
          </p:cNvPr>
          <p:cNvSpPr txBox="1"/>
          <p:nvPr/>
        </p:nvSpPr>
        <p:spPr>
          <a:xfrm>
            <a:off x="4610100" y="14351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 dirty="0">
                <a:solidFill>
                  <a:srgbClr val="1B2628"/>
                </a:solidFill>
                <a:latin typeface="Microsoft YaHei" panose="020B0503020204020204" pitchFamily="34" charset="-122"/>
              </a:rPr>
              <a:t>贝卫多、可立奥；大宠爱</a:t>
            </a:r>
            <a:r>
              <a:rPr lang="en-US" altLang="zh-CN" sz="540" dirty="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540" dirty="0">
                <a:solidFill>
                  <a:srgbClr val="1B2628"/>
                </a:solidFill>
                <a:latin typeface="Microsoft YaHei" panose="020B0503020204020204" pitchFamily="34" charset="-122"/>
              </a:rPr>
              <a:t>妙宠爱为滴剂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C67E16-5C3B-7B35-93A2-61FD9CD82805}"/>
              </a:ext>
            </a:extLst>
          </p:cNvPr>
          <p:cNvSpPr/>
          <p:nvPr/>
        </p:nvSpPr>
        <p:spPr>
          <a:xfrm>
            <a:off x="6883400" y="1397000"/>
            <a:ext cx="1981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5DE8BF-7CAF-9F27-6384-723E032F1784}"/>
              </a:ext>
            </a:extLst>
          </p:cNvPr>
          <p:cNvSpPr txBox="1"/>
          <p:nvPr/>
        </p:nvSpPr>
        <p:spPr>
          <a:xfrm>
            <a:off x="6921500" y="14351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省心、广谱、户外风险、兽医推荐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20D166-3C40-5B9B-22A4-287DD2B7FA11}"/>
              </a:ext>
            </a:extLst>
          </p:cNvPr>
          <p:cNvSpPr/>
          <p:nvPr/>
        </p:nvSpPr>
        <p:spPr>
          <a:xfrm>
            <a:off x="279400" y="1828800"/>
            <a:ext cx="1346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8291058-B3E1-6FE0-AE6F-FE294398408B}"/>
              </a:ext>
            </a:extLst>
          </p:cNvPr>
          <p:cNvSpPr txBox="1"/>
          <p:nvPr/>
        </p:nvSpPr>
        <p:spPr>
          <a:xfrm>
            <a:off x="317500" y="18669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博来恩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Broadline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F4F053-2584-768C-F4AA-D0B92A759298}"/>
              </a:ext>
            </a:extLst>
          </p:cNvPr>
          <p:cNvSpPr/>
          <p:nvPr/>
        </p:nvSpPr>
        <p:spPr>
          <a:xfrm>
            <a:off x="1625600" y="1828800"/>
            <a:ext cx="1422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D365AB2-8AEB-A330-C2BA-19ACC9B11D82}"/>
              </a:ext>
            </a:extLst>
          </p:cNvPr>
          <p:cNvSpPr txBox="1"/>
          <p:nvPr/>
        </p:nvSpPr>
        <p:spPr>
          <a:xfrm>
            <a:off x="1663700" y="18669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猫；外用滴剂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内外同驱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BA2C21D-D460-15C6-BD7F-9AE1B0952D9A}"/>
              </a:ext>
            </a:extLst>
          </p:cNvPr>
          <p:cNvSpPr/>
          <p:nvPr/>
        </p:nvSpPr>
        <p:spPr>
          <a:xfrm>
            <a:off x="3048000" y="1828800"/>
            <a:ext cx="15240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2C18F3-9856-3115-986C-7999B9A8A029}"/>
              </a:ext>
            </a:extLst>
          </p:cNvPr>
          <p:cNvSpPr txBox="1"/>
          <p:nvPr/>
        </p:nvSpPr>
        <p:spPr>
          <a:xfrm>
            <a:off x="3086100" y="18669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猫端广谱驱虫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483D3C3-67E6-D967-41CD-A29605B486CD}"/>
              </a:ext>
            </a:extLst>
          </p:cNvPr>
          <p:cNvSpPr/>
          <p:nvPr/>
        </p:nvSpPr>
        <p:spPr>
          <a:xfrm>
            <a:off x="4572000" y="1828800"/>
            <a:ext cx="2311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1E7664B-5D36-518B-0736-42CD0056F8D2}"/>
              </a:ext>
            </a:extLst>
          </p:cNvPr>
          <p:cNvSpPr txBox="1"/>
          <p:nvPr/>
        </p:nvSpPr>
        <p:spPr>
          <a:xfrm>
            <a:off x="4610100" y="18669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妙宠爱、海乐妙等猫端产品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13C17E9-8EF3-6561-D11D-DBBC3D9DBA68}"/>
              </a:ext>
            </a:extLst>
          </p:cNvPr>
          <p:cNvSpPr/>
          <p:nvPr/>
        </p:nvSpPr>
        <p:spPr>
          <a:xfrm>
            <a:off x="6883400" y="1828800"/>
            <a:ext cx="1981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DB0BC94-6C57-5EAB-BC36-15699C1F2EE7}"/>
              </a:ext>
            </a:extLst>
          </p:cNvPr>
          <p:cNvSpPr txBox="1"/>
          <p:nvPr/>
        </p:nvSpPr>
        <p:spPr>
          <a:xfrm>
            <a:off x="6921500" y="18669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低应激、室内猫风险、多猫家庭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043AB31-DBEF-FB79-BE6C-9EDD76FCD2B2}"/>
              </a:ext>
            </a:extLst>
          </p:cNvPr>
          <p:cNvSpPr/>
          <p:nvPr/>
        </p:nvSpPr>
        <p:spPr>
          <a:xfrm>
            <a:off x="279400" y="2260600"/>
            <a:ext cx="1346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E0FF042-9825-5977-9A0E-BB3FC1930462}"/>
              </a:ext>
            </a:extLst>
          </p:cNvPr>
          <p:cNvSpPr txBox="1"/>
          <p:nvPr/>
        </p:nvSpPr>
        <p:spPr>
          <a:xfrm>
            <a:off x="317500" y="22987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福味恩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FRONTPRO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CE55FDF-0CFC-FA21-187B-7C523A6916B5}"/>
              </a:ext>
            </a:extLst>
          </p:cNvPr>
          <p:cNvSpPr/>
          <p:nvPr/>
        </p:nvSpPr>
        <p:spPr>
          <a:xfrm>
            <a:off x="1625600" y="2260600"/>
            <a:ext cx="1422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9C5F0E1-441B-A5B6-E88A-FADD50EEF915}"/>
              </a:ext>
            </a:extLst>
          </p:cNvPr>
          <p:cNvSpPr txBox="1"/>
          <p:nvPr/>
        </p:nvSpPr>
        <p:spPr>
          <a:xfrm>
            <a:off x="1663700" y="22987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犬；口服咀嚼片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外驱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C3DABF-24D6-30B6-B5A5-426B1B4E4529}"/>
              </a:ext>
            </a:extLst>
          </p:cNvPr>
          <p:cNvSpPr/>
          <p:nvPr/>
        </p:nvSpPr>
        <p:spPr>
          <a:xfrm>
            <a:off x="3048000" y="2260600"/>
            <a:ext cx="15240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5A5F35E-54C7-472D-45E2-69B655F3A8FE}"/>
              </a:ext>
            </a:extLst>
          </p:cNvPr>
          <p:cNvSpPr txBox="1"/>
          <p:nvPr/>
        </p:nvSpPr>
        <p:spPr>
          <a:xfrm>
            <a:off x="3086100" y="22987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犬用口服外驱补强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66C66F-A692-F9AC-7EA5-D1366A854018}"/>
              </a:ext>
            </a:extLst>
          </p:cNvPr>
          <p:cNvSpPr/>
          <p:nvPr/>
        </p:nvSpPr>
        <p:spPr>
          <a:xfrm>
            <a:off x="4572000" y="2260600"/>
            <a:ext cx="2311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5098CE1-7C70-2B5B-C697-CD266AC77F3F}"/>
              </a:ext>
            </a:extLst>
          </p:cNvPr>
          <p:cNvSpPr txBox="1"/>
          <p:nvPr/>
        </p:nvSpPr>
        <p:spPr>
          <a:xfrm>
            <a:off x="4610100" y="22987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贝卫多、可立奥及其他犬外驱产品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4C5F1D-CBC8-8AB1-85E3-6D8585A938D5}"/>
              </a:ext>
            </a:extLst>
          </p:cNvPr>
          <p:cNvSpPr/>
          <p:nvPr/>
        </p:nvSpPr>
        <p:spPr>
          <a:xfrm>
            <a:off x="6883400" y="2260600"/>
            <a:ext cx="1981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3A9E87-8233-AE35-3511-F77AFF4CDFD5}"/>
              </a:ext>
            </a:extLst>
          </p:cNvPr>
          <p:cNvSpPr txBox="1"/>
          <p:nvPr/>
        </p:nvSpPr>
        <p:spPr>
          <a:xfrm>
            <a:off x="6921500" y="22987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补强口服外驱价格带和电商搜索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71A211-C7E4-BF13-E37E-5F57A02CDE3A}"/>
              </a:ext>
            </a:extLst>
          </p:cNvPr>
          <p:cNvSpPr/>
          <p:nvPr/>
        </p:nvSpPr>
        <p:spPr>
          <a:xfrm>
            <a:off x="279400" y="2692400"/>
            <a:ext cx="1346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BEFF9F7-B021-5FAD-EAEF-6996D0E05091}"/>
              </a:ext>
            </a:extLst>
          </p:cNvPr>
          <p:cNvSpPr txBox="1"/>
          <p:nvPr/>
        </p:nvSpPr>
        <p:spPr>
          <a:xfrm>
            <a:off x="317500" y="27305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尼可信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NexGard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B5CB604-A6E9-9AE8-E359-69062D6A42A1}"/>
              </a:ext>
            </a:extLst>
          </p:cNvPr>
          <p:cNvSpPr/>
          <p:nvPr/>
        </p:nvSpPr>
        <p:spPr>
          <a:xfrm>
            <a:off x="1625600" y="2692400"/>
            <a:ext cx="1422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C7BFEF-500A-36D9-96FF-69AA06488334}"/>
              </a:ext>
            </a:extLst>
          </p:cNvPr>
          <p:cNvSpPr txBox="1"/>
          <p:nvPr/>
        </p:nvSpPr>
        <p:spPr>
          <a:xfrm>
            <a:off x="1663700" y="27305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犬；口服咀嚼片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外驱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EE59FF8-2213-A5A8-45FD-93BD62900F28}"/>
              </a:ext>
            </a:extLst>
          </p:cNvPr>
          <p:cNvSpPr/>
          <p:nvPr/>
        </p:nvSpPr>
        <p:spPr>
          <a:xfrm>
            <a:off x="3048000" y="2692400"/>
            <a:ext cx="15240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AA9EF35-9F25-D88F-4C40-B435551DF987}"/>
              </a:ext>
            </a:extLst>
          </p:cNvPr>
          <p:cNvSpPr txBox="1"/>
          <p:nvPr/>
        </p:nvSpPr>
        <p:spPr>
          <a:xfrm>
            <a:off x="3086100" y="27305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经典犬用口服外驱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66F5FB3-1216-26C3-B329-C29F1C2DE93D}"/>
              </a:ext>
            </a:extLst>
          </p:cNvPr>
          <p:cNvSpPr/>
          <p:nvPr/>
        </p:nvSpPr>
        <p:spPr>
          <a:xfrm>
            <a:off x="4572000" y="2692400"/>
            <a:ext cx="2311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B7375DD-CB87-672D-2A13-EAC588845890}"/>
              </a:ext>
            </a:extLst>
          </p:cNvPr>
          <p:cNvSpPr txBox="1"/>
          <p:nvPr/>
        </p:nvSpPr>
        <p:spPr>
          <a:xfrm>
            <a:off x="4610100" y="27305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贝卫多、可立奥等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79C8194-0308-37BB-9D55-1D3CF4DEE745}"/>
              </a:ext>
            </a:extLst>
          </p:cNvPr>
          <p:cNvSpPr/>
          <p:nvPr/>
        </p:nvSpPr>
        <p:spPr>
          <a:xfrm>
            <a:off x="6883400" y="2692400"/>
            <a:ext cx="1981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A4BFEE2-3546-986C-605A-C5545DAE2FE1}"/>
              </a:ext>
            </a:extLst>
          </p:cNvPr>
          <p:cNvSpPr txBox="1"/>
          <p:nvPr/>
        </p:nvSpPr>
        <p:spPr>
          <a:xfrm>
            <a:off x="6921500" y="27305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按风险等级和价格带分层承接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DB2F9C8-BF3B-7C4E-C7AE-1ED7AE4D5FF1}"/>
              </a:ext>
            </a:extLst>
          </p:cNvPr>
          <p:cNvSpPr/>
          <p:nvPr/>
        </p:nvSpPr>
        <p:spPr>
          <a:xfrm>
            <a:off x="279400" y="3124200"/>
            <a:ext cx="1346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356B852-0A7E-D076-93E6-1A33262BC0BD}"/>
              </a:ext>
            </a:extLst>
          </p:cNvPr>
          <p:cNvSpPr txBox="1"/>
          <p:nvPr/>
        </p:nvSpPr>
        <p:spPr>
          <a:xfrm>
            <a:off x="317500" y="31623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福来恩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Frontline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BE8DA2B-F3E4-BE7C-10CA-0791FF4BB1D7}"/>
              </a:ext>
            </a:extLst>
          </p:cNvPr>
          <p:cNvSpPr/>
          <p:nvPr/>
        </p:nvSpPr>
        <p:spPr>
          <a:xfrm>
            <a:off x="1625600" y="3124200"/>
            <a:ext cx="1422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CCC730A-BC12-CB2F-7CDA-973B94BE91D4}"/>
              </a:ext>
            </a:extLst>
          </p:cNvPr>
          <p:cNvSpPr txBox="1"/>
          <p:nvPr/>
        </p:nvSpPr>
        <p:spPr>
          <a:xfrm>
            <a:off x="1663700" y="31623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犬猫；外用滴剂</a:t>
            </a:r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喷剂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外驱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023BB24-FC40-D503-E3A7-9F7F58CAF962}"/>
              </a:ext>
            </a:extLst>
          </p:cNvPr>
          <p:cNvSpPr/>
          <p:nvPr/>
        </p:nvSpPr>
        <p:spPr>
          <a:xfrm>
            <a:off x="3048000" y="3124200"/>
            <a:ext cx="15240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1744276-F3CB-61B3-9F59-7833D3BF0AFC}"/>
              </a:ext>
            </a:extLst>
          </p:cNvPr>
          <p:cNvSpPr txBox="1"/>
          <p:nvPr/>
        </p:nvSpPr>
        <p:spPr>
          <a:xfrm>
            <a:off x="3086100" y="31623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经典外用外驱基础盘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933A5F0-42A3-14ED-D4E3-C322E3F6ABDA}"/>
              </a:ext>
            </a:extLst>
          </p:cNvPr>
          <p:cNvSpPr/>
          <p:nvPr/>
        </p:nvSpPr>
        <p:spPr>
          <a:xfrm>
            <a:off x="4572000" y="3124200"/>
            <a:ext cx="23114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4779EC6-7E5B-D6BB-F4C8-7AD6AFA753B9}"/>
              </a:ext>
            </a:extLst>
          </p:cNvPr>
          <p:cNvSpPr txBox="1"/>
          <p:nvPr/>
        </p:nvSpPr>
        <p:spPr>
          <a:xfrm>
            <a:off x="4610100" y="31623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大宠爱、妙宠爱、索来多项圈、国产外驱滴剂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DDDF579-3F24-BDBD-4AA0-10D1D0805EB2}"/>
              </a:ext>
            </a:extLst>
          </p:cNvPr>
          <p:cNvSpPr/>
          <p:nvPr/>
        </p:nvSpPr>
        <p:spPr>
          <a:xfrm>
            <a:off x="6883400" y="3124200"/>
            <a:ext cx="198120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B435E7A-CCF2-F43F-A88C-3A6A51E2AE2F}"/>
              </a:ext>
            </a:extLst>
          </p:cNvPr>
          <p:cNvSpPr txBox="1"/>
          <p:nvPr/>
        </p:nvSpPr>
        <p:spPr>
          <a:xfrm>
            <a:off x="6921500" y="31623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经典品牌和外用剂型偏好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944B355-BF48-0B2D-0D29-5234E5BA5324}"/>
              </a:ext>
            </a:extLst>
          </p:cNvPr>
          <p:cNvSpPr/>
          <p:nvPr/>
        </p:nvSpPr>
        <p:spPr>
          <a:xfrm>
            <a:off x="279400" y="3556000"/>
            <a:ext cx="1346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9210149-243A-A012-5EDF-174174576F66}"/>
              </a:ext>
            </a:extLst>
          </p:cNvPr>
          <p:cNvSpPr txBox="1"/>
          <p:nvPr/>
        </p:nvSpPr>
        <p:spPr>
          <a:xfrm>
            <a:off x="317500" y="3594100"/>
            <a:ext cx="12700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犬心保</a:t>
            </a:r>
          </a:p>
          <a:p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Heartgard Plus</a:t>
            </a:r>
            <a:endParaRPr lang="zh-CN" altLang="en-US" sz="54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6D742A3-3327-12B8-38AD-DA1FC0474200}"/>
              </a:ext>
            </a:extLst>
          </p:cNvPr>
          <p:cNvSpPr/>
          <p:nvPr/>
        </p:nvSpPr>
        <p:spPr>
          <a:xfrm>
            <a:off x="1625600" y="3556000"/>
            <a:ext cx="1422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8E46925-C0D1-480F-F06A-F6D88CFF39F0}"/>
              </a:ext>
            </a:extLst>
          </p:cNvPr>
          <p:cNvSpPr txBox="1"/>
          <p:nvPr/>
        </p:nvSpPr>
        <p:spPr>
          <a:xfrm>
            <a:off x="1663700" y="3594100"/>
            <a:ext cx="1346200" cy="2174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犬；口服咀嚼片</a:t>
            </a:r>
          </a:p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内驱</a:t>
            </a:r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心丝虫预防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C1F4BB1-4109-FA43-A662-44A5BDA30E08}"/>
              </a:ext>
            </a:extLst>
          </p:cNvPr>
          <p:cNvSpPr/>
          <p:nvPr/>
        </p:nvSpPr>
        <p:spPr>
          <a:xfrm>
            <a:off x="3048000" y="3556000"/>
            <a:ext cx="15240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C38459F-448D-839C-45FB-AFC9FD990878}"/>
              </a:ext>
            </a:extLst>
          </p:cNvPr>
          <p:cNvSpPr txBox="1"/>
          <p:nvPr/>
        </p:nvSpPr>
        <p:spPr>
          <a:xfrm>
            <a:off x="3086100" y="3594100"/>
            <a:ext cx="14478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年度预防组合补充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43FE889-D03E-4D6B-BDBB-42EEDE00F294}"/>
              </a:ext>
            </a:extLst>
          </p:cNvPr>
          <p:cNvSpPr/>
          <p:nvPr/>
        </p:nvSpPr>
        <p:spPr>
          <a:xfrm>
            <a:off x="4572000" y="3556000"/>
            <a:ext cx="23114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C5E8F7A-5573-F6E7-DB55-54306C9BAC1B}"/>
              </a:ext>
            </a:extLst>
          </p:cNvPr>
          <p:cNvSpPr txBox="1"/>
          <p:nvPr/>
        </p:nvSpPr>
        <p:spPr>
          <a:xfrm>
            <a:off x="4610100" y="3594100"/>
            <a:ext cx="22352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拜宠清、海乐妙等体内驱虫产品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6C1250B-6E21-DE27-27E5-CB305D78C5B3}"/>
              </a:ext>
            </a:extLst>
          </p:cNvPr>
          <p:cNvSpPr/>
          <p:nvPr/>
        </p:nvSpPr>
        <p:spPr>
          <a:xfrm>
            <a:off x="6883400" y="3556000"/>
            <a:ext cx="1981200" cy="431800"/>
          </a:xfrm>
          <a:prstGeom prst="rect">
            <a:avLst/>
          </a:prstGeom>
          <a:solidFill>
            <a:srgbClr val="EDF4F1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F83C3F-8143-540E-A773-3B4579E1E259}"/>
              </a:ext>
            </a:extLst>
          </p:cNvPr>
          <p:cNvSpPr txBox="1"/>
          <p:nvPr/>
        </p:nvSpPr>
        <p:spPr>
          <a:xfrm>
            <a:off x="6921500" y="3594100"/>
            <a:ext cx="1905000" cy="1343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与外驱</a:t>
            </a:r>
            <a:r>
              <a:rPr lang="en-US" altLang="zh-CN" sz="5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540">
                <a:solidFill>
                  <a:srgbClr val="1B2628"/>
                </a:solidFill>
                <a:latin typeface="Microsoft YaHei" panose="020B0503020204020204" pitchFamily="34" charset="-122"/>
              </a:rPr>
              <a:t>超可信形成组合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355F5ED-3733-5BE6-8FBD-F5558C2C1C3E}"/>
              </a:ext>
            </a:extLst>
          </p:cNvPr>
          <p:cNvSpPr txBox="1"/>
          <p:nvPr/>
        </p:nvSpPr>
        <p:spPr>
          <a:xfrm>
            <a:off x="355600" y="4699000"/>
            <a:ext cx="7366000" cy="15132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650">
                <a:solidFill>
                  <a:srgbClr val="677173"/>
                </a:solidFill>
                <a:latin typeface="Microsoft YaHei" panose="020B0503020204020204" pitchFamily="34" charset="-122"/>
              </a:rPr>
              <a:t>注：本页不使用未审计销量估算；产品覆盖和竞品对标按公开资料与市场部策略整理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3C645A3-3AFA-B3B7-1ADB-5D1851CDB4F8}"/>
              </a:ext>
            </a:extLst>
          </p:cNvPr>
          <p:cNvSpPr txBox="1"/>
          <p:nvPr/>
        </p:nvSpPr>
        <p:spPr>
          <a:xfrm>
            <a:off x="7543800" y="4699000"/>
            <a:ext cx="1270000" cy="15132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650" b="1">
                <a:solidFill>
                  <a:srgbClr val="00352B"/>
                </a:solidFill>
                <a:latin typeface="Microsoft YaHei" panose="020B0503020204020204" pitchFamily="34" charset="-122"/>
              </a:rPr>
              <a:t>INTERNAL USE ONLY</a:t>
            </a:r>
            <a:endParaRPr lang="zh-CN" altLang="en-US" sz="6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00209E-521B-E47F-254E-86FD7327F5FF}"/>
              </a:ext>
            </a:extLst>
          </p:cNvPr>
          <p:cNvSpPr/>
          <p:nvPr/>
        </p:nvSpPr>
        <p:spPr>
          <a:xfrm>
            <a:off x="-74951" y="-4286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EF5AFC-0D0A-3C91-9457-EB7819D49911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59EFBA-5AAD-30FF-59F8-A5ADA532323A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中国宠物药竞争生态：从产品表到运营系统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Competitive Ecosystem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145C8A-60CA-DD74-D1AD-3611B2AF8B65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竞争焦点从单品销售转向医院信任、渠道效率、数字化复购和防窜货治理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D2A122-C971-3C4E-1F37-5CDC605D24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1041400"/>
            <a:ext cx="3810000" cy="2413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65A893E-685C-6285-1A76-3EE1B288DF2E}"/>
              </a:ext>
            </a:extLst>
          </p:cNvPr>
          <p:cNvSpPr/>
          <p:nvPr/>
        </p:nvSpPr>
        <p:spPr>
          <a:xfrm>
            <a:off x="406400" y="1092200"/>
            <a:ext cx="4064000" cy="2489200"/>
          </a:xfrm>
          <a:prstGeom prst="rect">
            <a:avLst/>
          </a:prstGeom>
          <a:solidFill>
            <a:srgbClr val="E4F8E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34BA26-E643-7B44-E859-13E3396289A4}"/>
              </a:ext>
            </a:extLst>
          </p:cNvPr>
          <p:cNvSpPr txBox="1"/>
          <p:nvPr/>
        </p:nvSpPr>
        <p:spPr>
          <a:xfrm>
            <a:off x="609600" y="1320800"/>
            <a:ext cx="3708400" cy="353943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b="1">
                <a:solidFill>
                  <a:srgbClr val="00352B"/>
                </a:solidFill>
                <a:latin typeface="Microsoft YaHei" panose="020B0503020204020204" pitchFamily="34" charset="-122"/>
              </a:rPr>
              <a:t>核心判断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BB9968-398E-B1AE-E130-35060B8CDFEC}"/>
              </a:ext>
            </a:extLst>
          </p:cNvPr>
          <p:cNvSpPr txBox="1"/>
          <p:nvPr/>
        </p:nvSpPr>
        <p:spPr>
          <a:xfrm>
            <a:off x="609600" y="1828800"/>
            <a:ext cx="3632200" cy="738664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需要从进口驱虫药品牌，升级为宠物预防医学 </a:t>
            </a:r>
            <a:r>
              <a:rPr lang="en-US" altLang="zh-CN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医院数字化 </a:t>
            </a:r>
            <a:r>
              <a:rPr lang="en-US" altLang="zh-CN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1B2628"/>
                </a:solidFill>
                <a:latin typeface="Microsoft YaHei" panose="020B0503020204020204" pitchFamily="34" charset="-122"/>
              </a:rPr>
              <a:t>渠道可视化的生态运营者。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59F566-152F-BA2E-58C0-CCB697FBFA35}"/>
              </a:ext>
            </a:extLst>
          </p:cNvPr>
          <p:cNvSpPr txBox="1"/>
          <p:nvPr/>
        </p:nvSpPr>
        <p:spPr>
          <a:xfrm>
            <a:off x="609600" y="2997200"/>
            <a:ext cx="3708400" cy="338554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1B2628"/>
                </a:solidFill>
                <a:latin typeface="Microsoft YaHei" panose="020B0503020204020204" pitchFamily="34" charset="-122"/>
              </a:rPr>
              <a:t>这意味着：产品、医生、经销商、电商、宠主数据必须被放进同一个运营闭环。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212820-5D6A-98F8-CDBB-414D35DBC476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Image generated with imagegen; Sources: 2026</a:t>
            </a:r>
            <a:r>
              <a:rPr lang="zh-CN" altLang="en-US" sz="650">
                <a:solidFill>
                  <a:srgbClr val="677173"/>
                </a:solidFill>
                <a:latin typeface="Microsoft YaHei" panose="020B0503020204020204" pitchFamily="34" charset="-122"/>
              </a:rPr>
              <a:t>中国宠物行业白皮书公开报道；前瞻产业研究院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5958D7-D83A-AFCE-4D16-14B58823152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084EFF-9BA7-AA6A-D65B-03918BD9F4A2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723ECB-8E45-5D66-370D-D8052AFF0658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竞争生态地图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Ecosystem Map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DFFEC3-46CE-2A12-C4CA-1D928F9764C3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用关系图看竞争，而不是只看竞品清单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A8EE328-26EF-E95E-F86F-7D5A83B71B65}"/>
              </a:ext>
            </a:extLst>
          </p:cNvPr>
          <p:cNvSpPr/>
          <p:nvPr/>
        </p:nvSpPr>
        <p:spPr>
          <a:xfrm>
            <a:off x="3708400" y="1778000"/>
            <a:ext cx="1727200" cy="1041400"/>
          </a:xfrm>
          <a:prstGeom prst="ellipse">
            <a:avLst/>
          </a:prstGeom>
          <a:solidFill>
            <a:srgbClr val="00352B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7D7F32-6B67-9949-375F-2A35D998F219}"/>
              </a:ext>
            </a:extLst>
          </p:cNvPr>
          <p:cNvSpPr txBox="1"/>
          <p:nvPr/>
        </p:nvSpPr>
        <p:spPr>
          <a:xfrm>
            <a:off x="3924300" y="2006600"/>
            <a:ext cx="1511300" cy="477054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US" altLang="zh-CN" sz="13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BI</a:t>
            </a:r>
          </a:p>
          <a:p>
            <a:r>
              <a:rPr lang="zh-CN" altLang="en-US" sz="13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宠物预防医学平台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5CDE9-7E12-B405-1DEF-C88B51AA6F87}"/>
              </a:ext>
            </a:extLst>
          </p:cNvPr>
          <p:cNvSpPr/>
          <p:nvPr/>
        </p:nvSpPr>
        <p:spPr>
          <a:xfrm>
            <a:off x="736600" y="1168400"/>
            <a:ext cx="2006600" cy="914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780233-8513-5F7C-6D02-41A9D8BEB0F8}"/>
              </a:ext>
            </a:extLst>
          </p:cNvPr>
          <p:cNvSpPr/>
          <p:nvPr/>
        </p:nvSpPr>
        <p:spPr>
          <a:xfrm>
            <a:off x="736600" y="1168400"/>
            <a:ext cx="2006600" cy="76200"/>
          </a:xfrm>
          <a:prstGeom prst="rect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209087-085E-3521-EA18-50DF39913178}"/>
              </a:ext>
            </a:extLst>
          </p:cNvPr>
          <p:cNvSpPr txBox="1"/>
          <p:nvPr/>
        </p:nvSpPr>
        <p:spPr>
          <a:xfrm>
            <a:off x="863600" y="1333500"/>
            <a:ext cx="17526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外资高端预防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2E93D0-7912-A46F-6716-49304E3B115E}"/>
              </a:ext>
            </a:extLst>
          </p:cNvPr>
          <p:cNvSpPr txBox="1"/>
          <p:nvPr/>
        </p:nvSpPr>
        <p:spPr>
          <a:xfrm>
            <a:off x="863600" y="1676400"/>
            <a:ext cx="17526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硕腾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默沙东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礼蓝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C5C3B0E-7437-D3BF-4805-4307EB2967F0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1676400"/>
            <a:ext cx="1055308" cy="3832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EEE28D4-197A-EC2E-80F9-7B4DB42F0814}"/>
              </a:ext>
            </a:extLst>
          </p:cNvPr>
          <p:cNvSpPr/>
          <p:nvPr/>
        </p:nvSpPr>
        <p:spPr>
          <a:xfrm>
            <a:off x="6375400" y="1168400"/>
            <a:ext cx="2006600" cy="914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04E4B0-B01C-6E03-4DD9-7309752CF431}"/>
              </a:ext>
            </a:extLst>
          </p:cNvPr>
          <p:cNvSpPr/>
          <p:nvPr/>
        </p:nvSpPr>
        <p:spPr>
          <a:xfrm>
            <a:off x="6375400" y="1168400"/>
            <a:ext cx="2006600" cy="76200"/>
          </a:xfrm>
          <a:prstGeom prst="rect">
            <a:avLst/>
          </a:prstGeom>
          <a:solidFill>
            <a:srgbClr val="A8E6E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EE1BC2-D4CE-1914-F56F-87D0C15EB5AA}"/>
              </a:ext>
            </a:extLst>
          </p:cNvPr>
          <p:cNvSpPr txBox="1"/>
          <p:nvPr/>
        </p:nvSpPr>
        <p:spPr>
          <a:xfrm>
            <a:off x="6502400" y="1333500"/>
            <a:ext cx="17526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国产替代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2C2F52-8DC7-8466-622E-D227EED03BDE}"/>
              </a:ext>
            </a:extLst>
          </p:cNvPr>
          <p:cNvSpPr txBox="1"/>
          <p:nvPr/>
        </p:nvSpPr>
        <p:spPr>
          <a:xfrm>
            <a:off x="6502400" y="1676400"/>
            <a:ext cx="17526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海正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瑞普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普莱柯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E02734-848E-4E95-2AA4-CCE4F70A130C}"/>
              </a:ext>
            </a:extLst>
          </p:cNvPr>
          <p:cNvCxnSpPr>
            <a:cxnSpLocks/>
          </p:cNvCxnSpPr>
          <p:nvPr/>
        </p:nvCxnSpPr>
        <p:spPr>
          <a:xfrm flipV="1">
            <a:off x="5345494" y="1625600"/>
            <a:ext cx="1029906" cy="43404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92FEC4F-CD98-68F4-5B77-409F4DCE9666}"/>
              </a:ext>
            </a:extLst>
          </p:cNvPr>
          <p:cNvSpPr/>
          <p:nvPr/>
        </p:nvSpPr>
        <p:spPr>
          <a:xfrm>
            <a:off x="736600" y="3302000"/>
            <a:ext cx="2006600" cy="914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F6CA4E-31F2-1432-0636-9E8AE4819A68}"/>
              </a:ext>
            </a:extLst>
          </p:cNvPr>
          <p:cNvSpPr/>
          <p:nvPr/>
        </p:nvSpPr>
        <p:spPr>
          <a:xfrm>
            <a:off x="736600" y="3302000"/>
            <a:ext cx="2006600" cy="76200"/>
          </a:xfrm>
          <a:prstGeom prst="rect">
            <a:avLst/>
          </a:prstGeom>
          <a:solidFill>
            <a:srgbClr val="FF845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80A9F7-B8D6-B425-E4D3-6B36CA228B46}"/>
              </a:ext>
            </a:extLst>
          </p:cNvPr>
          <p:cNvSpPr txBox="1"/>
          <p:nvPr/>
        </p:nvSpPr>
        <p:spPr>
          <a:xfrm>
            <a:off x="863600" y="3467100"/>
            <a:ext cx="17526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宠物医院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E562094-C68C-C304-BD20-FD9755379366}"/>
              </a:ext>
            </a:extLst>
          </p:cNvPr>
          <p:cNvSpPr txBox="1"/>
          <p:nvPr/>
        </p:nvSpPr>
        <p:spPr>
          <a:xfrm>
            <a:off x="863600" y="3810000"/>
            <a:ext cx="17526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医生推荐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病例教育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3F83B60-3F10-332E-221A-E2DC6E11B1E7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2743200" y="2596296"/>
            <a:ext cx="1103276" cy="74380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6C9A2101-AA0B-9EBF-2105-CBDC3ACFF831}"/>
              </a:ext>
            </a:extLst>
          </p:cNvPr>
          <p:cNvSpPr/>
          <p:nvPr/>
        </p:nvSpPr>
        <p:spPr>
          <a:xfrm>
            <a:off x="6375400" y="3302000"/>
            <a:ext cx="2006600" cy="914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A3F20FF-DA9C-0F17-7F41-71F80F1F586C}"/>
              </a:ext>
            </a:extLst>
          </p:cNvPr>
          <p:cNvSpPr/>
          <p:nvPr/>
        </p:nvSpPr>
        <p:spPr>
          <a:xfrm>
            <a:off x="6375400" y="3302000"/>
            <a:ext cx="2006600" cy="76200"/>
          </a:xfrm>
          <a:prstGeom prst="rect">
            <a:avLst/>
          </a:prstGeom>
          <a:solidFill>
            <a:srgbClr val="FFE25C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6BB51B5-5E73-3CA7-5959-B351F5F35982}"/>
              </a:ext>
            </a:extLst>
          </p:cNvPr>
          <p:cNvSpPr txBox="1"/>
          <p:nvPr/>
        </p:nvSpPr>
        <p:spPr>
          <a:xfrm>
            <a:off x="6502400" y="3467100"/>
            <a:ext cx="17526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电商平台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13D515-373E-90D3-8772-B2C5F23DC77E}"/>
              </a:ext>
            </a:extLst>
          </p:cNvPr>
          <p:cNvSpPr txBox="1"/>
          <p:nvPr/>
        </p:nvSpPr>
        <p:spPr>
          <a:xfrm>
            <a:off x="6502400" y="3810000"/>
            <a:ext cx="17526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搜索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比价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复购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AB586A15-E42A-D94B-77BF-07597FEC86E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5345494" y="2536336"/>
            <a:ext cx="2033206" cy="76566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E76D638-F1C5-A464-6F06-3FF2EF7A0AEA}"/>
              </a:ext>
            </a:extLst>
          </p:cNvPr>
          <p:cNvSpPr/>
          <p:nvPr/>
        </p:nvSpPr>
        <p:spPr>
          <a:xfrm>
            <a:off x="3606800" y="3606800"/>
            <a:ext cx="2006600" cy="914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FA5E592-F937-1F91-DA6C-E74A79CA627C}"/>
              </a:ext>
            </a:extLst>
          </p:cNvPr>
          <p:cNvSpPr/>
          <p:nvPr/>
        </p:nvSpPr>
        <p:spPr>
          <a:xfrm>
            <a:off x="3606800" y="3606800"/>
            <a:ext cx="2006600" cy="76200"/>
          </a:xfrm>
          <a:prstGeom prst="rect">
            <a:avLst/>
          </a:prstGeom>
          <a:solidFill>
            <a:srgbClr val="CFC5F4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EC2F8BE-41D7-3DF3-9AC3-D68303D1FB9A}"/>
              </a:ext>
            </a:extLst>
          </p:cNvPr>
          <p:cNvSpPr txBox="1"/>
          <p:nvPr/>
        </p:nvSpPr>
        <p:spPr>
          <a:xfrm>
            <a:off x="3733800" y="3771900"/>
            <a:ext cx="17526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内容</a:t>
            </a:r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KOC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256F803-B510-1222-0B2A-2DE4CE58D5EE}"/>
              </a:ext>
            </a:extLst>
          </p:cNvPr>
          <p:cNvSpPr txBox="1"/>
          <p:nvPr/>
        </p:nvSpPr>
        <p:spPr>
          <a:xfrm>
            <a:off x="3733800" y="4114800"/>
            <a:ext cx="17526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医生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达人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社群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5D3F9A6-8EC7-275B-EB6F-D0BEF6741574}"/>
              </a:ext>
            </a:extLst>
          </p:cNvPr>
          <p:cNvCxnSpPr>
            <a:cxnSpLocks/>
          </p:cNvCxnSpPr>
          <p:nvPr/>
        </p:nvCxnSpPr>
        <p:spPr>
          <a:xfrm>
            <a:off x="4572000" y="2819400"/>
            <a:ext cx="0" cy="76624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8EA58FE4-4A40-0FAD-DD35-E51A5C3CD09A}"/>
              </a:ext>
            </a:extLst>
          </p:cNvPr>
          <p:cNvSpPr txBox="1"/>
          <p:nvPr/>
        </p:nvSpPr>
        <p:spPr>
          <a:xfrm>
            <a:off x="558800" y="4533859"/>
            <a:ext cx="80264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950" b="1" dirty="0">
                <a:solidFill>
                  <a:srgbClr val="00352B"/>
                </a:solidFill>
                <a:latin typeface="Microsoft YaHei" panose="020B0503020204020204" pitchFamily="34" charset="-122"/>
              </a:rPr>
              <a:t>外资抢高端信任，国产抢价格带，医院掌握推荐，电商放大价格，内容平台影响认知。</a:t>
            </a:r>
            <a:r>
              <a:rPr lang="en-US" altLang="zh-CN" sz="950" b="1" dirty="0">
                <a:solidFill>
                  <a:srgbClr val="00352B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950" b="1" dirty="0">
                <a:solidFill>
                  <a:srgbClr val="00352B"/>
                </a:solidFill>
                <a:latin typeface="Microsoft YaHei" panose="020B0503020204020204" pitchFamily="34" charset="-122"/>
              </a:rPr>
              <a:t>要把这些节点串起来。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136C4A0-C5FC-00FF-611C-C8CD0D91F408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INTERNAL USE ONLY | BI China Pet Health | Data: May 2026</a:t>
            </a:r>
            <a:endParaRPr lang="zh-CN" altLang="en-US" sz="650">
              <a:solidFill>
                <a:srgbClr val="677173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888FB6-FBB1-E795-B0DF-84F717FE76A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71913D-F84D-20AB-9D70-DF61EBDBDFF7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CCBE2F-7E88-B1DE-59C3-5809FA3882F9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驱虫打法：犬猫分路径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Dog/Cat-Specific Strategy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C3EF48-E0ED-B99D-1C3B-9FA3AB3C384E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犬端打户外风险与口服依从性；猫端打低应激、滴剂便利和室内猫教育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B000E1-C186-68AF-1C6E-4F1020E5A994}"/>
              </a:ext>
            </a:extLst>
          </p:cNvPr>
          <p:cNvSpPr/>
          <p:nvPr/>
        </p:nvSpPr>
        <p:spPr>
          <a:xfrm>
            <a:off x="533400" y="1193800"/>
            <a:ext cx="3556000" cy="2667000"/>
          </a:xfrm>
          <a:prstGeom prst="rect">
            <a:avLst/>
          </a:prstGeom>
          <a:solidFill>
            <a:srgbClr val="E4F8E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0B9A3C-09D9-B758-8F83-A96863164F47}"/>
              </a:ext>
            </a:extLst>
          </p:cNvPr>
          <p:cNvSpPr txBox="1"/>
          <p:nvPr/>
        </p:nvSpPr>
        <p:spPr>
          <a:xfrm>
            <a:off x="762000" y="1422400"/>
            <a:ext cx="2921000" cy="353943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b="1">
                <a:solidFill>
                  <a:srgbClr val="00352B"/>
                </a:solidFill>
                <a:latin typeface="Microsoft YaHei" panose="020B0503020204020204" pitchFamily="34" charset="-122"/>
              </a:rPr>
              <a:t>DOG </a:t>
            </a:r>
            <a:r>
              <a:rPr lang="zh-CN" altLang="en-US" b="1">
                <a:solidFill>
                  <a:srgbClr val="00352B"/>
                </a:solidFill>
                <a:latin typeface="Microsoft YaHei" panose="020B0503020204020204" pitchFamily="34" charset="-122"/>
              </a:rPr>
              <a:t>犬端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14E537-15B3-4D37-8B5D-68F3FD277B44}"/>
              </a:ext>
            </a:extLst>
          </p:cNvPr>
          <p:cNvSpPr txBox="1"/>
          <p:nvPr/>
        </p:nvSpPr>
        <p:spPr>
          <a:xfrm>
            <a:off x="762000" y="1905000"/>
            <a:ext cx="2997200" cy="867930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场景：户外、蜱虫、跳蚤、心丝虫、皮肤寄生虫</a:t>
            </a:r>
          </a:p>
          <a:p>
            <a:endParaRPr lang="zh-CN" altLang="en-US" sz="840">
              <a:solidFill>
                <a:srgbClr val="1B2628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打法：超可信作为高阶预防核心；尼可信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福味恩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福来恩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犬心保按风险和价格带承接</a:t>
            </a:r>
          </a:p>
          <a:p>
            <a:endParaRPr lang="zh-CN" altLang="en-US" sz="840">
              <a:solidFill>
                <a:srgbClr val="1B2628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渠道：医院推荐 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电商搜索词防守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1EE6DA-72B8-830B-8A9D-AB3534F1495C}"/>
              </a:ext>
            </a:extLst>
          </p:cNvPr>
          <p:cNvSpPr/>
          <p:nvPr/>
        </p:nvSpPr>
        <p:spPr>
          <a:xfrm>
            <a:off x="5054600" y="1193800"/>
            <a:ext cx="3556000" cy="2667000"/>
          </a:xfrm>
          <a:prstGeom prst="rect">
            <a:avLst/>
          </a:prstGeom>
          <a:solidFill>
            <a:srgbClr val="EBF9FB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F8124A-D278-B8CD-5A47-EC029AF7046E}"/>
              </a:ext>
            </a:extLst>
          </p:cNvPr>
          <p:cNvSpPr txBox="1"/>
          <p:nvPr/>
        </p:nvSpPr>
        <p:spPr>
          <a:xfrm>
            <a:off x="5283200" y="1422400"/>
            <a:ext cx="2921000" cy="353943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b="1">
                <a:solidFill>
                  <a:srgbClr val="00352B"/>
                </a:solidFill>
                <a:latin typeface="Microsoft YaHei" panose="020B0503020204020204" pitchFamily="34" charset="-122"/>
              </a:rPr>
              <a:t>CAT </a:t>
            </a:r>
            <a:r>
              <a:rPr lang="zh-CN" altLang="en-US" b="1">
                <a:solidFill>
                  <a:srgbClr val="00352B"/>
                </a:solidFill>
                <a:latin typeface="Microsoft YaHei" panose="020B0503020204020204" pitchFamily="34" charset="-122"/>
              </a:rPr>
              <a:t>猫端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503392-5E08-2024-4D65-C3983CAAAE91}"/>
              </a:ext>
            </a:extLst>
          </p:cNvPr>
          <p:cNvSpPr txBox="1"/>
          <p:nvPr/>
        </p:nvSpPr>
        <p:spPr>
          <a:xfrm>
            <a:off x="5283200" y="1905000"/>
            <a:ext cx="2997200" cy="867930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场景：室内猫、多猫家庭、低应激、舔舐安全、喂药压力</a:t>
            </a:r>
          </a:p>
          <a:p>
            <a:endParaRPr lang="zh-CN" altLang="en-US" sz="840">
              <a:solidFill>
                <a:srgbClr val="1B2628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打法：博来恩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福来恩强调滴剂便利、广谱覆盖和室内猫也需预防</a:t>
            </a:r>
          </a:p>
          <a:p>
            <a:endParaRPr lang="zh-CN" altLang="en-US" sz="840">
              <a:solidFill>
                <a:srgbClr val="1B2628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渠道：小红书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抖音科普 </a:t>
            </a:r>
            <a:r>
              <a:rPr lang="en-US" altLang="zh-CN" sz="840">
                <a:solidFill>
                  <a:srgbClr val="1B262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>
                <a:solidFill>
                  <a:srgbClr val="1B2628"/>
                </a:solidFill>
                <a:latin typeface="Microsoft YaHei" panose="020B0503020204020204" pitchFamily="34" charset="-122"/>
              </a:rPr>
              <a:t>医院首次建档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27D4BAF-2F52-54D6-AB7F-1010879654EF}"/>
              </a:ext>
            </a:extLst>
          </p:cNvPr>
          <p:cNvCxnSpPr/>
          <p:nvPr/>
        </p:nvCxnSpPr>
        <p:spPr>
          <a:xfrm>
            <a:off x="4140200" y="2514600"/>
            <a:ext cx="863600" cy="0"/>
          </a:xfrm>
          <a:prstGeom prst="line">
            <a:avLst/>
          </a:prstGeom>
          <a:ln w="38100">
            <a:solidFill>
              <a:srgbClr val="00E1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2915366-7F59-3FAC-A3C4-87AF34FCB5CF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Sources: 2026</a:t>
            </a:r>
            <a:r>
              <a:rPr lang="zh-CN" altLang="en-US" sz="650">
                <a:solidFill>
                  <a:srgbClr val="677173"/>
                </a:solidFill>
                <a:latin typeface="Microsoft YaHei" panose="020B0503020204020204" pitchFamily="34" charset="-122"/>
              </a:rPr>
              <a:t>中国宠物行业白皮书公开报道；产品定位为市场部策略整理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745D11-7FB5-C8B7-3713-55D854EAC5ED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224F4C-90C3-6486-B244-BAB89929DD82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Pet Owner Journey / Experience</a:t>
            </a:r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：市场洞察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0D26A6-AD6D-3283-4F86-0A6F87061362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竞品已经在搭建数据驱动的宠主旅程；</a:t>
            </a:r>
            <a:r>
              <a:rPr lang="en-US" altLang="zh-CN" sz="850">
                <a:solidFill>
                  <a:srgbClr val="677173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需要把内容、咨询、提醒和服务串起来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8F0C15-0557-2FD0-F2C6-EEC561730C12}"/>
              </a:ext>
            </a:extLst>
          </p:cNvPr>
          <p:cNvSpPr/>
          <p:nvPr/>
        </p:nvSpPr>
        <p:spPr>
          <a:xfrm>
            <a:off x="508000" y="1143000"/>
            <a:ext cx="2413000" cy="1168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A62C56-B8E7-B6E3-6096-49A395F2B7DB}"/>
              </a:ext>
            </a:extLst>
          </p:cNvPr>
          <p:cNvSpPr/>
          <p:nvPr/>
        </p:nvSpPr>
        <p:spPr>
          <a:xfrm>
            <a:off x="508000" y="1143000"/>
            <a:ext cx="2413000" cy="76200"/>
          </a:xfrm>
          <a:prstGeom prst="rect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CE8002-0146-D278-4AFB-F98BD7119A4D}"/>
              </a:ext>
            </a:extLst>
          </p:cNvPr>
          <p:cNvSpPr txBox="1"/>
          <p:nvPr/>
        </p:nvSpPr>
        <p:spPr>
          <a:xfrm>
            <a:off x="635000" y="1308100"/>
            <a:ext cx="21590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Competitors’ Approach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5A718C-C034-D8C1-0C5B-13C136004EAF}"/>
              </a:ext>
            </a:extLst>
          </p:cNvPr>
          <p:cNvSpPr txBox="1"/>
          <p:nvPr/>
        </p:nvSpPr>
        <p:spPr>
          <a:xfrm>
            <a:off x="635000" y="1651000"/>
            <a:ext cx="2159000" cy="41549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 dirty="0">
                <a:solidFill>
                  <a:srgbClr val="1B2628"/>
                </a:solidFill>
                <a:latin typeface="Microsoft YaHei" panose="020B0503020204020204" pitchFamily="34" charset="-122"/>
              </a:rPr>
              <a:t>其他品牌已通过宠物健康管理、知识教育、咨询入口和提醒服务，建立从知识 → 咨询 → 监测 → 服务的全生命周期触点。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349BD-ADF9-95C8-C168-25E7E7779F19}"/>
              </a:ext>
            </a:extLst>
          </p:cNvPr>
          <p:cNvSpPr/>
          <p:nvPr/>
        </p:nvSpPr>
        <p:spPr>
          <a:xfrm>
            <a:off x="508000" y="2641600"/>
            <a:ext cx="2413000" cy="11684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81F962-E335-3B77-33DC-858496CEB1CD}"/>
              </a:ext>
            </a:extLst>
          </p:cNvPr>
          <p:cNvSpPr/>
          <p:nvPr/>
        </p:nvSpPr>
        <p:spPr>
          <a:xfrm>
            <a:off x="508000" y="2641600"/>
            <a:ext cx="2413000" cy="76200"/>
          </a:xfrm>
          <a:prstGeom prst="rect">
            <a:avLst/>
          </a:prstGeom>
          <a:solidFill>
            <a:srgbClr val="FF8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BF64C2-5B2A-4143-1EF9-D9CEEFFF727E}"/>
              </a:ext>
            </a:extLst>
          </p:cNvPr>
          <p:cNvSpPr txBox="1"/>
          <p:nvPr/>
        </p:nvSpPr>
        <p:spPr>
          <a:xfrm>
            <a:off x="635000" y="2806700"/>
            <a:ext cx="21590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Pain Points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AF6808-94B9-C381-F99B-6A6D7E1006F9}"/>
              </a:ext>
            </a:extLst>
          </p:cNvPr>
          <p:cNvSpPr txBox="1"/>
          <p:nvPr/>
        </p:nvSpPr>
        <p:spPr>
          <a:xfrm>
            <a:off x="635000" y="3149600"/>
            <a:ext cx="2159000" cy="41549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缺少前端平台触达宠主</a:t>
            </a:r>
          </a:p>
          <a:p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用户行为与健康数据分散</a:t>
            </a:r>
          </a:p>
          <a:p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缺少可被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LLM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索引和引用的宠主知识资产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DD050C-6A3E-ED1E-63BB-43F4CF53F38D}"/>
              </a:ext>
            </a:extLst>
          </p:cNvPr>
          <p:cNvSpPr/>
          <p:nvPr/>
        </p:nvSpPr>
        <p:spPr>
          <a:xfrm>
            <a:off x="508000" y="3971498"/>
            <a:ext cx="2413000" cy="5588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F03E3A-4367-34DC-77F6-E8365C67B02E}"/>
              </a:ext>
            </a:extLst>
          </p:cNvPr>
          <p:cNvSpPr/>
          <p:nvPr/>
        </p:nvSpPr>
        <p:spPr>
          <a:xfrm>
            <a:off x="508000" y="3902523"/>
            <a:ext cx="2413000" cy="76200"/>
          </a:xfrm>
          <a:prstGeom prst="rect">
            <a:avLst/>
          </a:prstGeom>
          <a:solidFill>
            <a:srgbClr val="A8E6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D3EC72-17A5-01E4-511E-0122CF299BEB}"/>
              </a:ext>
            </a:extLst>
          </p:cNvPr>
          <p:cNvSpPr txBox="1"/>
          <p:nvPr/>
        </p:nvSpPr>
        <p:spPr>
          <a:xfrm>
            <a:off x="635000" y="4305300"/>
            <a:ext cx="2159000" cy="22313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IT Digital Opportunity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E58366-51F7-1207-A044-01C0CF87D1EA}"/>
              </a:ext>
            </a:extLst>
          </p:cNvPr>
          <p:cNvSpPr txBox="1"/>
          <p:nvPr/>
        </p:nvSpPr>
        <p:spPr>
          <a:xfrm>
            <a:off x="635000" y="4648200"/>
            <a:ext cx="2159000" cy="184666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Pet GPT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：智能咨询 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科普教育 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转化驱动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8B175E-B9DB-C71A-EBDA-BB7D22F2FB18}"/>
              </a:ext>
            </a:extLst>
          </p:cNvPr>
          <p:cNvSpPr/>
          <p:nvPr/>
        </p:nvSpPr>
        <p:spPr>
          <a:xfrm>
            <a:off x="3810000" y="1473200"/>
            <a:ext cx="1219200" cy="2184400"/>
          </a:xfrm>
          <a:prstGeom prst="rect">
            <a:avLst/>
          </a:prstGeom>
          <a:solidFill>
            <a:srgbClr val="EBF7F8"/>
          </a:solidFill>
          <a:ln w="9525">
            <a:solidFill>
              <a:srgbClr val="00E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6D982C-672F-8E03-3802-22E0BE6BE22E}"/>
              </a:ext>
            </a:extLst>
          </p:cNvPr>
          <p:cNvSpPr/>
          <p:nvPr/>
        </p:nvSpPr>
        <p:spPr>
          <a:xfrm>
            <a:off x="3987800" y="1600200"/>
            <a:ext cx="863600" cy="101600"/>
          </a:xfrm>
          <a:prstGeom prst="rect">
            <a:avLst/>
          </a:prstGeom>
          <a:solidFill>
            <a:srgbClr val="0035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9C8C03-63AF-BC39-CC9E-E105D84B88BF}"/>
              </a:ext>
            </a:extLst>
          </p:cNvPr>
          <p:cNvSpPr txBox="1"/>
          <p:nvPr/>
        </p:nvSpPr>
        <p:spPr>
          <a:xfrm>
            <a:off x="3962400" y="1905000"/>
            <a:ext cx="914400" cy="19697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780" b="1">
                <a:solidFill>
                  <a:srgbClr val="00352B"/>
                </a:solidFill>
                <a:latin typeface="Microsoft YaHei" panose="020B0503020204020204" pitchFamily="34" charset="-122"/>
              </a:rPr>
              <a:t>Pet GPT</a:t>
            </a:r>
            <a:endParaRPr lang="zh-CN" altLang="en-US" sz="78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65213A-2FD1-A2EE-A1AD-65A0B3623A9B}"/>
              </a:ext>
            </a:extLst>
          </p:cNvPr>
          <p:cNvSpPr/>
          <p:nvPr/>
        </p:nvSpPr>
        <p:spPr>
          <a:xfrm>
            <a:off x="3962400" y="2286000"/>
            <a:ext cx="9144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B1C9E6-AC2F-875A-2038-DFC5223F31AD}"/>
              </a:ext>
            </a:extLst>
          </p:cNvPr>
          <p:cNvSpPr txBox="1"/>
          <p:nvPr/>
        </p:nvSpPr>
        <p:spPr>
          <a:xfrm>
            <a:off x="4013200" y="2362200"/>
            <a:ext cx="812800" cy="50013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My dog has diarrhea. Should I worry?</a:t>
            </a:r>
          </a:p>
          <a:p>
            <a:endParaRPr lang="en-US" altLang="zh-CN" sz="530">
              <a:solidFill>
                <a:srgbClr val="1B2628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Answer with triage + clinic guidance.</a:t>
            </a:r>
            <a:endParaRPr lang="zh-CN" altLang="en-US" sz="53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D520B81-1C35-CE9B-B476-35D2863252C6}"/>
              </a:ext>
            </a:extLst>
          </p:cNvPr>
          <p:cNvSpPr/>
          <p:nvPr/>
        </p:nvSpPr>
        <p:spPr>
          <a:xfrm>
            <a:off x="4292600" y="3251200"/>
            <a:ext cx="254000" cy="254000"/>
          </a:xfrm>
          <a:prstGeom prst="ellipse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EEC23E-EA34-5CED-5CD3-ACAE96246619}"/>
              </a:ext>
            </a:extLst>
          </p:cNvPr>
          <p:cNvSpPr/>
          <p:nvPr/>
        </p:nvSpPr>
        <p:spPr>
          <a:xfrm>
            <a:off x="5638800" y="1473200"/>
            <a:ext cx="1219200" cy="2184400"/>
          </a:xfrm>
          <a:prstGeom prst="rect">
            <a:avLst/>
          </a:prstGeom>
          <a:solidFill>
            <a:srgbClr val="EBF7F8"/>
          </a:solidFill>
          <a:ln w="9525">
            <a:solidFill>
              <a:srgbClr val="A8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D08340-E864-97EE-ECC2-369D436AABE2}"/>
              </a:ext>
            </a:extLst>
          </p:cNvPr>
          <p:cNvSpPr/>
          <p:nvPr/>
        </p:nvSpPr>
        <p:spPr>
          <a:xfrm>
            <a:off x="5816600" y="1600200"/>
            <a:ext cx="863600" cy="101600"/>
          </a:xfrm>
          <a:prstGeom prst="rect">
            <a:avLst/>
          </a:prstGeom>
          <a:solidFill>
            <a:srgbClr val="0035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4B11C37-3F55-4795-D1F9-A815F1174A11}"/>
              </a:ext>
            </a:extLst>
          </p:cNvPr>
          <p:cNvSpPr txBox="1"/>
          <p:nvPr/>
        </p:nvSpPr>
        <p:spPr>
          <a:xfrm>
            <a:off x="5791200" y="1905000"/>
            <a:ext cx="914400" cy="19697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780" b="1">
                <a:solidFill>
                  <a:srgbClr val="00352B"/>
                </a:solidFill>
                <a:latin typeface="Microsoft YaHei" panose="020B0503020204020204" pitchFamily="34" charset="-122"/>
              </a:rPr>
              <a:t>Pet Profile</a:t>
            </a:r>
            <a:endParaRPr lang="zh-CN" altLang="en-US" sz="78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411791B-AC18-5BF9-E30D-F2DC8D84D077}"/>
              </a:ext>
            </a:extLst>
          </p:cNvPr>
          <p:cNvSpPr/>
          <p:nvPr/>
        </p:nvSpPr>
        <p:spPr>
          <a:xfrm>
            <a:off x="5791200" y="2286000"/>
            <a:ext cx="914400" cy="78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E0ED22-7B17-704D-3931-76FE28FCCC91}"/>
              </a:ext>
            </a:extLst>
          </p:cNvPr>
          <p:cNvSpPr txBox="1"/>
          <p:nvPr/>
        </p:nvSpPr>
        <p:spPr>
          <a:xfrm>
            <a:off x="5842000" y="2362200"/>
            <a:ext cx="812800" cy="50013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Doggy | 6 yrs</a:t>
            </a:r>
          </a:p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Parasite treatment due</a:t>
            </a:r>
          </a:p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Vaccination record</a:t>
            </a:r>
          </a:p>
          <a:p>
            <a:r>
              <a:rPr lang="en-US" altLang="zh-CN" sz="530">
                <a:solidFill>
                  <a:srgbClr val="1B2628"/>
                </a:solidFill>
                <a:latin typeface="Microsoft YaHei" panose="020B0503020204020204" pitchFamily="34" charset="-122"/>
              </a:rPr>
              <a:t>Deworming record</a:t>
            </a:r>
            <a:endParaRPr lang="zh-CN" altLang="en-US" sz="530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CFC1815-D442-CA12-78AF-4D2B9356DFC9}"/>
              </a:ext>
            </a:extLst>
          </p:cNvPr>
          <p:cNvSpPr/>
          <p:nvPr/>
        </p:nvSpPr>
        <p:spPr>
          <a:xfrm>
            <a:off x="6121400" y="3251200"/>
            <a:ext cx="254000" cy="254000"/>
          </a:xfrm>
          <a:prstGeom prst="ellipse">
            <a:avLst/>
          </a:prstGeom>
          <a:solidFill>
            <a:srgbClr val="A8E6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AC2604C-C5B0-9822-01B3-B39890994731}"/>
              </a:ext>
            </a:extLst>
          </p:cNvPr>
          <p:cNvCxnSpPr/>
          <p:nvPr/>
        </p:nvCxnSpPr>
        <p:spPr>
          <a:xfrm>
            <a:off x="3022600" y="1752600"/>
            <a:ext cx="685800" cy="406400"/>
          </a:xfrm>
          <a:prstGeom prst="line">
            <a:avLst/>
          </a:prstGeom>
          <a:ln w="16510">
            <a:solidFill>
              <a:srgbClr val="6771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0C7D44-AB2E-E3C6-DC6D-DC99E947CEE2}"/>
              </a:ext>
            </a:extLst>
          </p:cNvPr>
          <p:cNvCxnSpPr/>
          <p:nvPr/>
        </p:nvCxnSpPr>
        <p:spPr>
          <a:xfrm flipV="1">
            <a:off x="3022600" y="2565400"/>
            <a:ext cx="685800" cy="635000"/>
          </a:xfrm>
          <a:prstGeom prst="line">
            <a:avLst/>
          </a:prstGeom>
          <a:ln w="16510">
            <a:solidFill>
              <a:srgbClr val="6771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203FBCF-1FE6-1ACA-EF43-FEBBF6EE83C7}"/>
              </a:ext>
            </a:extLst>
          </p:cNvPr>
          <p:cNvSpPr txBox="1"/>
          <p:nvPr/>
        </p:nvSpPr>
        <p:spPr>
          <a:xfrm>
            <a:off x="7239000" y="1600200"/>
            <a:ext cx="1397000" cy="723275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20" b="1">
                <a:solidFill>
                  <a:srgbClr val="00352B"/>
                </a:solidFill>
                <a:latin typeface="Microsoft YaHei" panose="020B0503020204020204" pitchFamily="34" charset="-122"/>
              </a:rPr>
              <a:t>从竞品启发看，真正的差异不是多一个聊天框，而是把科普内容、产品选择、医院咨询和复购提醒连成行动路径。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632B63-4C7A-B71D-4B9F-468216EEF326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Source: AH pet competitor ecosystem327 source slide 7; adapted to BI white redesign</a:t>
            </a:r>
            <a:endParaRPr lang="zh-CN" altLang="en-US" sz="650">
              <a:solidFill>
                <a:srgbClr val="677173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803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D9D3D0-65E7-63BE-2FA8-01836BFB367D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EEF67E-5EAF-3933-EE20-9A6A2EC290CC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Pet GPT </a:t>
            </a:r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三阶段路线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From Education Layer To Closed-loop Orchestrator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79A631-E1FC-CDCA-DD3C-ADBAFB43F4F4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把</a:t>
            </a:r>
            <a:r>
              <a:rPr lang="en-US" altLang="zh-CN" sz="850">
                <a:solidFill>
                  <a:srgbClr val="677173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从内容强推进到内容能行动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C90793-D3F8-2414-F71C-74DDAF18088F}"/>
              </a:ext>
            </a:extLst>
          </p:cNvPr>
          <p:cNvCxnSpPr/>
          <p:nvPr/>
        </p:nvCxnSpPr>
        <p:spPr>
          <a:xfrm flipV="1">
            <a:off x="1066800" y="1498600"/>
            <a:ext cx="6908800" cy="2133600"/>
          </a:xfrm>
          <a:prstGeom prst="line">
            <a:avLst/>
          </a:prstGeom>
          <a:ln w="63500">
            <a:solidFill>
              <a:srgbClr val="0035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8C0504E5-A079-A4D7-377C-F52EBC8880A6}"/>
              </a:ext>
            </a:extLst>
          </p:cNvPr>
          <p:cNvSpPr/>
          <p:nvPr/>
        </p:nvSpPr>
        <p:spPr>
          <a:xfrm>
            <a:off x="965200" y="3378200"/>
            <a:ext cx="254000" cy="254000"/>
          </a:xfrm>
          <a:prstGeom prst="ellipse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D504D4-6ECB-9D48-B42B-695C0AFFB637}"/>
              </a:ext>
            </a:extLst>
          </p:cNvPr>
          <p:cNvSpPr/>
          <p:nvPr/>
        </p:nvSpPr>
        <p:spPr>
          <a:xfrm>
            <a:off x="152400" y="2057400"/>
            <a:ext cx="1879600" cy="10922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9C00BE-3FFC-3178-5D27-9F5FC1738D24}"/>
              </a:ext>
            </a:extLst>
          </p:cNvPr>
          <p:cNvSpPr/>
          <p:nvPr/>
        </p:nvSpPr>
        <p:spPr>
          <a:xfrm>
            <a:off x="152400" y="2057400"/>
            <a:ext cx="1879600" cy="76200"/>
          </a:xfrm>
          <a:prstGeom prst="rect">
            <a:avLst/>
          </a:prstGeom>
          <a:solidFill>
            <a:srgbClr val="00E1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7B0699-DD19-ED5F-0A9B-F3773C496C06}"/>
              </a:ext>
            </a:extLst>
          </p:cNvPr>
          <p:cNvSpPr txBox="1"/>
          <p:nvPr/>
        </p:nvSpPr>
        <p:spPr>
          <a:xfrm>
            <a:off x="279400" y="2222500"/>
            <a:ext cx="1625600" cy="3693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Phase 1</a:t>
            </a:r>
          </a:p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Education Layer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8FB3FF-BA48-10BF-FC46-F3B24B8629D1}"/>
              </a:ext>
            </a:extLst>
          </p:cNvPr>
          <p:cNvSpPr txBox="1"/>
          <p:nvPr/>
        </p:nvSpPr>
        <p:spPr>
          <a:xfrm>
            <a:off x="279400" y="2565400"/>
            <a:ext cx="1625600" cy="523220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驱虫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寄生虫基础问答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基于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FAQ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的标准化回答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按年龄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品种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生活方式提示风险并引导产品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45578AC-C5F1-1908-0A69-ED0504AFD82F}"/>
              </a:ext>
            </a:extLst>
          </p:cNvPr>
          <p:cNvSpPr/>
          <p:nvPr/>
        </p:nvSpPr>
        <p:spPr>
          <a:xfrm>
            <a:off x="3911600" y="2463800"/>
            <a:ext cx="254000" cy="254000"/>
          </a:xfrm>
          <a:prstGeom prst="ellipse">
            <a:avLst/>
          </a:prstGeom>
          <a:solidFill>
            <a:srgbClr val="A8E6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307B2E-FA1E-EAE3-CC72-369095ECCD9D}"/>
              </a:ext>
            </a:extLst>
          </p:cNvPr>
          <p:cNvSpPr/>
          <p:nvPr/>
        </p:nvSpPr>
        <p:spPr>
          <a:xfrm>
            <a:off x="3098800" y="1143000"/>
            <a:ext cx="1879600" cy="10922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429B6A-79E1-3D9F-F6CE-38986F87C8ED}"/>
              </a:ext>
            </a:extLst>
          </p:cNvPr>
          <p:cNvSpPr/>
          <p:nvPr/>
        </p:nvSpPr>
        <p:spPr>
          <a:xfrm>
            <a:off x="3098800" y="1143000"/>
            <a:ext cx="1879600" cy="76200"/>
          </a:xfrm>
          <a:prstGeom prst="rect">
            <a:avLst/>
          </a:prstGeom>
          <a:solidFill>
            <a:srgbClr val="A8E6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A971BD-7636-5555-560F-883B81A564CD}"/>
              </a:ext>
            </a:extLst>
          </p:cNvPr>
          <p:cNvSpPr txBox="1"/>
          <p:nvPr/>
        </p:nvSpPr>
        <p:spPr>
          <a:xfrm>
            <a:off x="3225800" y="1308100"/>
            <a:ext cx="1625600" cy="3693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Phase 2</a:t>
            </a:r>
          </a:p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Journey Companion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0DFFB5-3627-C9CD-DE84-857C985A9F72}"/>
              </a:ext>
            </a:extLst>
          </p:cNvPr>
          <p:cNvSpPr txBox="1"/>
          <p:nvPr/>
        </p:nvSpPr>
        <p:spPr>
          <a:xfrm>
            <a:off x="3225800" y="1651000"/>
            <a:ext cx="1625600" cy="523220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宠物档案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驱虫提醒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周期性教育推送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新手宠主旅程陪伴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B1035B4-5569-3A29-9488-A0993247BA08}"/>
              </a:ext>
            </a:extLst>
          </p:cNvPr>
          <p:cNvSpPr/>
          <p:nvPr/>
        </p:nvSpPr>
        <p:spPr>
          <a:xfrm>
            <a:off x="6883400" y="1193800"/>
            <a:ext cx="254000" cy="254000"/>
          </a:xfrm>
          <a:prstGeom prst="ellipse">
            <a:avLst/>
          </a:prstGeom>
          <a:solidFill>
            <a:srgbClr val="FF8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C56855-5407-4DC6-B2C2-5557DB065D94}"/>
              </a:ext>
            </a:extLst>
          </p:cNvPr>
          <p:cNvSpPr/>
          <p:nvPr/>
        </p:nvSpPr>
        <p:spPr>
          <a:xfrm>
            <a:off x="6070600" y="-127000"/>
            <a:ext cx="1879600" cy="1092200"/>
          </a:xfrm>
          <a:prstGeom prst="rect">
            <a:avLst/>
          </a:prstGeom>
          <a:solidFill>
            <a:srgbClr val="F6F9F7"/>
          </a:solidFill>
          <a:ln w="9525">
            <a:solidFill>
              <a:srgbClr val="DAE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ACEA5A-3479-3D11-0DDC-529AF569EFAB}"/>
              </a:ext>
            </a:extLst>
          </p:cNvPr>
          <p:cNvSpPr/>
          <p:nvPr/>
        </p:nvSpPr>
        <p:spPr>
          <a:xfrm>
            <a:off x="6070600" y="-127000"/>
            <a:ext cx="1879600" cy="76200"/>
          </a:xfrm>
          <a:prstGeom prst="rect">
            <a:avLst/>
          </a:prstGeom>
          <a:solidFill>
            <a:srgbClr val="FF8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AF1870-89F0-7E9C-8BFA-B42566CE97A2}"/>
              </a:ext>
            </a:extLst>
          </p:cNvPr>
          <p:cNvSpPr txBox="1"/>
          <p:nvPr/>
        </p:nvSpPr>
        <p:spPr>
          <a:xfrm>
            <a:off x="6197600" y="38100"/>
            <a:ext cx="1625600" cy="530915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Phase 3</a:t>
            </a:r>
          </a:p>
          <a:p>
            <a:r>
              <a:rPr lang="en-US" altLang="zh-CN" sz="950" b="1">
                <a:solidFill>
                  <a:srgbClr val="1B2628"/>
                </a:solidFill>
                <a:latin typeface="Microsoft YaHei" panose="020B0503020204020204" pitchFamily="34" charset="-122"/>
              </a:rPr>
              <a:t>Closed-loop Orchestrator</a:t>
            </a:r>
            <a:endParaRPr lang="zh-CN" altLang="en-US" sz="950" b="1">
              <a:solidFill>
                <a:srgbClr val="1B26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9A2ABD-C31C-2833-0A91-D007B3270D35}"/>
              </a:ext>
            </a:extLst>
          </p:cNvPr>
          <p:cNvSpPr txBox="1"/>
          <p:nvPr/>
        </p:nvSpPr>
        <p:spPr>
          <a:xfrm>
            <a:off x="6197600" y="381000"/>
            <a:ext cx="1625600" cy="415498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对接京东健康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电商购买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对接医院咨询</a:t>
            </a:r>
            <a:r>
              <a:rPr lang="en-US" altLang="zh-CN" sz="70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预约跳转</a:t>
            </a:r>
          </a:p>
          <a:p>
            <a:r>
              <a:rPr lang="zh-CN" altLang="en-US" sz="700">
                <a:solidFill>
                  <a:srgbClr val="1B2628"/>
                </a:solidFill>
                <a:latin typeface="Microsoft YaHei" panose="020B0503020204020204" pitchFamily="34" charset="-122"/>
              </a:rPr>
              <a:t>复购提醒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D46205-B1E4-949B-F17E-87C39E9BAD3F}"/>
              </a:ext>
            </a:extLst>
          </p:cNvPr>
          <p:cNvSpPr txBox="1"/>
          <p:nvPr/>
        </p:nvSpPr>
        <p:spPr>
          <a:xfrm>
            <a:off x="685800" y="4191000"/>
            <a:ext cx="7747000" cy="246221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如果贝卫多、硕腾的优势是品牌教育 </a:t>
            </a:r>
            <a:r>
              <a:rPr lang="en-US" altLang="zh-CN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购买意图更短，那么 </a:t>
            </a:r>
            <a:r>
              <a:rPr lang="en-US" altLang="zh-CN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Pet GPT </a:t>
            </a:r>
            <a:r>
              <a:rPr lang="zh-CN" altLang="en-US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的价值就是把</a:t>
            </a:r>
            <a:r>
              <a:rPr lang="en-US" altLang="zh-CN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BI</a:t>
            </a:r>
            <a:r>
              <a:rPr lang="zh-CN" altLang="en-US" sz="1100" b="1">
                <a:solidFill>
                  <a:srgbClr val="00352B"/>
                </a:solidFill>
                <a:latin typeface="Microsoft YaHei" panose="020B0503020204020204" pitchFamily="34" charset="-122"/>
              </a:rPr>
              <a:t>从内容强推进到内容能行动。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01557B-3303-A958-54A4-5F4C50C60918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Source: AH pet competitor ecosystem327 source slide 8; adapted to BI white redesign</a:t>
            </a:r>
            <a:endParaRPr lang="zh-CN" altLang="en-US" sz="650">
              <a:solidFill>
                <a:srgbClr val="677173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460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D998AC-98A0-AE2A-22E6-6D9D70973C1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8DD133-32BD-DAD9-C04C-C7EA24AF6332}"/>
              </a:ext>
            </a:extLst>
          </p:cNvPr>
          <p:cNvSpPr/>
          <p:nvPr/>
        </p:nvSpPr>
        <p:spPr>
          <a:xfrm>
            <a:off x="0" y="0"/>
            <a:ext cx="9144000" cy="177800"/>
          </a:xfrm>
          <a:prstGeom prst="rect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A7237C-99B4-C3ED-B8AE-0F5EFAC09F7D}"/>
              </a:ext>
            </a:extLst>
          </p:cNvPr>
          <p:cNvSpPr txBox="1"/>
          <p:nvPr/>
        </p:nvSpPr>
        <p:spPr>
          <a:xfrm>
            <a:off x="355600" y="317500"/>
            <a:ext cx="8432800" cy="3462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防止经销商窜货：一物一码运营闭环 </a:t>
            </a:r>
            <a:r>
              <a:rPr lang="en-US" altLang="zh-CN" sz="1750" b="1">
                <a:solidFill>
                  <a:srgbClr val="00352B"/>
                </a:solidFill>
                <a:latin typeface="Microsoft YaHei" panose="020B0503020204020204" pitchFamily="34" charset="-122"/>
              </a:rPr>
              <a:t>| Anti-Diversion Loop</a:t>
            </a:r>
            <a:endParaRPr lang="zh-CN" altLang="en-US" sz="1750" b="1">
              <a:solidFill>
                <a:srgbClr val="0035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AA069B-B8AD-A00C-E929-04B61D63CDD4}"/>
              </a:ext>
            </a:extLst>
          </p:cNvPr>
          <p:cNvSpPr txBox="1"/>
          <p:nvPr/>
        </p:nvSpPr>
        <p:spPr>
          <a:xfrm>
            <a:off x="406400" y="736600"/>
            <a:ext cx="8128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677173"/>
                </a:solidFill>
                <a:latin typeface="Microsoft YaHei" panose="020B0503020204020204" pitchFamily="34" charset="-122"/>
              </a:rPr>
              <a:t>让每一盒产品的流向、区域和价格都可被管理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C7B41A5-F21F-5350-4EB4-1761C9634DE5}"/>
              </a:ext>
            </a:extLst>
          </p:cNvPr>
          <p:cNvSpPr/>
          <p:nvPr/>
        </p:nvSpPr>
        <p:spPr>
          <a:xfrm>
            <a:off x="558800" y="1422400"/>
            <a:ext cx="1320800" cy="1320800"/>
          </a:xfrm>
          <a:prstGeom prst="ellipse">
            <a:avLst/>
          </a:prstGeom>
          <a:solidFill>
            <a:srgbClr val="00E17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513329-B2C0-B5DC-1834-35A679D043F1}"/>
              </a:ext>
            </a:extLst>
          </p:cNvPr>
          <p:cNvSpPr txBox="1"/>
          <p:nvPr/>
        </p:nvSpPr>
        <p:spPr>
          <a:xfrm>
            <a:off x="711200" y="1727200"/>
            <a:ext cx="1016000" cy="2308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一物一码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26448D-D333-7707-07B1-7AA33BBFA737}"/>
              </a:ext>
            </a:extLst>
          </p:cNvPr>
          <p:cNvSpPr txBox="1"/>
          <p:nvPr/>
        </p:nvSpPr>
        <p:spPr>
          <a:xfrm>
            <a:off x="685800" y="2057400"/>
            <a:ext cx="1066800" cy="28007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盒码</a:t>
            </a:r>
            <a:r>
              <a:rPr lang="en-US" altLang="zh-CN" sz="660">
                <a:solidFill>
                  <a:srgbClr val="1B26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箱码父子关联</a:t>
            </a:r>
          </a:p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绑定批次、经销商、区域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F8E28E0-D0DE-3570-8459-2C42478F8109}"/>
              </a:ext>
            </a:extLst>
          </p:cNvPr>
          <p:cNvSpPr/>
          <p:nvPr/>
        </p:nvSpPr>
        <p:spPr>
          <a:xfrm>
            <a:off x="2794000" y="1422400"/>
            <a:ext cx="1320800" cy="1320800"/>
          </a:xfrm>
          <a:prstGeom prst="ellipse">
            <a:avLst/>
          </a:prstGeom>
          <a:solidFill>
            <a:srgbClr val="A8E6E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49768C-827F-B07B-B533-9638A81A27D3}"/>
              </a:ext>
            </a:extLst>
          </p:cNvPr>
          <p:cNvSpPr txBox="1"/>
          <p:nvPr/>
        </p:nvSpPr>
        <p:spPr>
          <a:xfrm>
            <a:off x="2946400" y="1727200"/>
            <a:ext cx="1016000" cy="2308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流向采集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4DE333-9664-FC15-6505-4029E3C1D904}"/>
              </a:ext>
            </a:extLst>
          </p:cNvPr>
          <p:cNvSpPr txBox="1"/>
          <p:nvPr/>
        </p:nvSpPr>
        <p:spPr>
          <a:xfrm>
            <a:off x="2921000" y="2057400"/>
            <a:ext cx="1066800" cy="381643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出库、收货、稽查、消费者扫码</a:t>
            </a:r>
          </a:p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形成多点流向证据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A1BE43-586E-6F2A-0939-E74279F43241}"/>
              </a:ext>
            </a:extLst>
          </p:cNvPr>
          <p:cNvSpPr/>
          <p:nvPr/>
        </p:nvSpPr>
        <p:spPr>
          <a:xfrm>
            <a:off x="5029200" y="1422400"/>
            <a:ext cx="1320800" cy="1320800"/>
          </a:xfrm>
          <a:prstGeom prst="ellipse">
            <a:avLst/>
          </a:prstGeom>
          <a:solidFill>
            <a:srgbClr val="FF845E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809BD-8083-9937-1700-BCF4325AF4E7}"/>
              </a:ext>
            </a:extLst>
          </p:cNvPr>
          <p:cNvSpPr txBox="1"/>
          <p:nvPr/>
        </p:nvSpPr>
        <p:spPr>
          <a:xfrm>
            <a:off x="5181600" y="1727200"/>
            <a:ext cx="1016000" cy="2308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异常预警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E5260-9705-7C26-1557-584329733A47}"/>
              </a:ext>
            </a:extLst>
          </p:cNvPr>
          <p:cNvSpPr txBox="1"/>
          <p:nvPr/>
        </p:nvSpPr>
        <p:spPr>
          <a:xfrm>
            <a:off x="5156200" y="2057400"/>
            <a:ext cx="1066800" cy="381643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跨区扫码、低价、同码多地</a:t>
            </a:r>
          </a:p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库存异常和短期爆量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F2FC188-0BDF-D283-6E98-E50CA5BC218A}"/>
              </a:ext>
            </a:extLst>
          </p:cNvPr>
          <p:cNvSpPr/>
          <p:nvPr/>
        </p:nvSpPr>
        <p:spPr>
          <a:xfrm>
            <a:off x="7264400" y="1422400"/>
            <a:ext cx="1320800" cy="1320800"/>
          </a:xfrm>
          <a:prstGeom prst="ellipse">
            <a:avLst/>
          </a:prstGeom>
          <a:solidFill>
            <a:srgbClr val="FFE25C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44F41C-FB54-7732-DE05-AD65CD6EF459}"/>
              </a:ext>
            </a:extLst>
          </p:cNvPr>
          <p:cNvSpPr txBox="1"/>
          <p:nvPr/>
        </p:nvSpPr>
        <p:spPr>
          <a:xfrm>
            <a:off x="7416800" y="1727200"/>
            <a:ext cx="1016000" cy="23083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000" b="1">
                <a:solidFill>
                  <a:srgbClr val="00352B"/>
                </a:solidFill>
                <a:latin typeface="Microsoft YaHei" panose="020B0503020204020204" pitchFamily="34" charset="-122"/>
              </a:rPr>
              <a:t>政策联动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B1F5A7-D344-B5A1-40BE-1AF640C91299}"/>
              </a:ext>
            </a:extLst>
          </p:cNvPr>
          <p:cNvSpPr txBox="1"/>
          <p:nvPr/>
        </p:nvSpPr>
        <p:spPr>
          <a:xfrm>
            <a:off x="7391400" y="2057400"/>
            <a:ext cx="1066800" cy="280077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返利、供货、授权</a:t>
            </a:r>
            <a:r>
              <a:rPr lang="en-US" altLang="zh-CN" sz="660">
                <a:solidFill>
                  <a:srgbClr val="1B2628"/>
                </a:solidFill>
                <a:latin typeface="Microsoft YaHei" panose="020B0503020204020204" pitchFamily="34" charset="-122"/>
              </a:rPr>
              <a:t>SKU</a:t>
            </a:r>
          </a:p>
          <a:p>
            <a:r>
              <a:rPr lang="zh-CN" altLang="en-US" sz="660">
                <a:solidFill>
                  <a:srgbClr val="1B2628"/>
                </a:solidFill>
                <a:latin typeface="Microsoft YaHei" panose="020B0503020204020204" pitchFamily="34" charset="-122"/>
              </a:rPr>
              <a:t>与合规表现挂钩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A92B329-3B78-0690-17DB-89258D5A2F32}"/>
              </a:ext>
            </a:extLst>
          </p:cNvPr>
          <p:cNvCxnSpPr/>
          <p:nvPr/>
        </p:nvCxnSpPr>
        <p:spPr>
          <a:xfrm>
            <a:off x="1905000" y="2082800"/>
            <a:ext cx="787400" cy="0"/>
          </a:xfrm>
          <a:prstGeom prst="line">
            <a:avLst/>
          </a:prstGeom>
          <a:ln w="25400">
            <a:solidFill>
              <a:srgbClr val="0035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3358A88-ADE2-6A9B-8968-A3AF3DB2D440}"/>
              </a:ext>
            </a:extLst>
          </p:cNvPr>
          <p:cNvCxnSpPr/>
          <p:nvPr/>
        </p:nvCxnSpPr>
        <p:spPr>
          <a:xfrm>
            <a:off x="4140200" y="2082800"/>
            <a:ext cx="787400" cy="0"/>
          </a:xfrm>
          <a:prstGeom prst="line">
            <a:avLst/>
          </a:prstGeom>
          <a:ln w="25400">
            <a:solidFill>
              <a:srgbClr val="0035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A56CAB5-0546-0DB9-5236-AD39DE25DB94}"/>
              </a:ext>
            </a:extLst>
          </p:cNvPr>
          <p:cNvCxnSpPr/>
          <p:nvPr/>
        </p:nvCxnSpPr>
        <p:spPr>
          <a:xfrm>
            <a:off x="6375400" y="2082800"/>
            <a:ext cx="787400" cy="0"/>
          </a:xfrm>
          <a:prstGeom prst="line">
            <a:avLst/>
          </a:prstGeom>
          <a:ln w="25400">
            <a:solidFill>
              <a:srgbClr val="0035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20C86E0-A7E1-B29F-8BB9-545AB8A7FA9D}"/>
              </a:ext>
            </a:extLst>
          </p:cNvPr>
          <p:cNvSpPr txBox="1"/>
          <p:nvPr/>
        </p:nvSpPr>
        <p:spPr>
          <a:xfrm>
            <a:off x="889000" y="3403600"/>
            <a:ext cx="7366000" cy="27699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1300" b="1">
                <a:solidFill>
                  <a:srgbClr val="00352B"/>
                </a:solidFill>
                <a:latin typeface="Microsoft YaHei" panose="020B0503020204020204" pitchFamily="34" charset="-122"/>
              </a:rPr>
              <a:t>管理闭环：码上身份 → 流向绑定 → 区域</a:t>
            </a:r>
            <a:r>
              <a:rPr lang="en-US" altLang="zh-CN" sz="1300" b="1">
                <a:solidFill>
                  <a:srgbClr val="00352B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 b="1">
                <a:solidFill>
                  <a:srgbClr val="00352B"/>
                </a:solidFill>
                <a:latin typeface="Microsoft YaHei" panose="020B0503020204020204" pitchFamily="34" charset="-122"/>
              </a:rPr>
              <a:t>价格监测 → 异常稽查 → 返利</a:t>
            </a:r>
            <a:r>
              <a:rPr lang="en-US" altLang="zh-CN" sz="1300" b="1">
                <a:solidFill>
                  <a:srgbClr val="00352B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 b="1">
                <a:solidFill>
                  <a:srgbClr val="00352B"/>
                </a:solidFill>
                <a:latin typeface="Microsoft YaHei" panose="020B0503020204020204" pitchFamily="34" charset="-122"/>
              </a:rPr>
              <a:t>供货政策联动。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297B94-0183-5C11-67C9-9124F84D17B7}"/>
              </a:ext>
            </a:extLst>
          </p:cNvPr>
          <p:cNvSpPr txBox="1"/>
          <p:nvPr/>
        </p:nvSpPr>
        <p:spPr>
          <a:xfrm>
            <a:off x="889000" y="4013200"/>
            <a:ext cx="7366000" cy="207749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zh-CN" altLang="en-US" sz="850">
                <a:solidFill>
                  <a:srgbClr val="1B2628"/>
                </a:solidFill>
                <a:latin typeface="Microsoft YaHei" panose="020B0503020204020204" pitchFamily="34" charset="-122"/>
              </a:rPr>
              <a:t>落地关键：医院专供</a:t>
            </a:r>
            <a:r>
              <a:rPr lang="en-US" altLang="zh-CN" sz="850">
                <a:solidFill>
                  <a:srgbClr val="1B2628"/>
                </a:solidFill>
                <a:latin typeface="Microsoft YaHei" panose="020B0503020204020204" pitchFamily="34" charset="-122"/>
              </a:rPr>
              <a:t>SKU</a:t>
            </a:r>
            <a:r>
              <a:rPr lang="zh-CN" altLang="en-US" sz="850">
                <a:solidFill>
                  <a:srgbClr val="1B2628"/>
                </a:solidFill>
                <a:latin typeface="Microsoft YaHei" panose="020B0503020204020204" pitchFamily="34" charset="-122"/>
              </a:rPr>
              <a:t>、电商授权店、经销商区域授权、</a:t>
            </a:r>
            <a:r>
              <a:rPr lang="en-US" altLang="zh-CN" sz="850">
                <a:solidFill>
                  <a:srgbClr val="1B2628"/>
                </a:solidFill>
                <a:latin typeface="Microsoft YaHei" panose="020B0503020204020204" pitchFamily="34" charset="-122"/>
              </a:rPr>
              <a:t>MAP</a:t>
            </a:r>
            <a:r>
              <a:rPr lang="zh-CN" altLang="en-US" sz="850">
                <a:solidFill>
                  <a:srgbClr val="1B2628"/>
                </a:solidFill>
                <a:latin typeface="Microsoft YaHei" panose="020B0503020204020204" pitchFamily="34" charset="-122"/>
              </a:rPr>
              <a:t>价格和扫码合规奖励必须同时设计。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92FFA2-6487-78BD-DD55-78DAB4AAC8CF}"/>
              </a:ext>
            </a:extLst>
          </p:cNvPr>
          <p:cNvSpPr txBox="1"/>
          <p:nvPr/>
        </p:nvSpPr>
        <p:spPr>
          <a:xfrm>
            <a:off x="355600" y="4902200"/>
            <a:ext cx="8432800" cy="176972"/>
          </a:xfrm>
          <a:prstGeom prst="rect">
            <a:avLst/>
          </a:prstGeom>
          <a:noFill/>
        </p:spPr>
        <p:txBody>
          <a:bodyPr vert="horz" lIns="63500" tIns="38100" rIns="63500" bIns="38100" rtlCol="0">
            <a:spAutoFit/>
          </a:bodyPr>
          <a:lstStyle/>
          <a:p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Sources: </a:t>
            </a:r>
            <a:r>
              <a:rPr lang="zh-CN" altLang="en-US" sz="650">
                <a:solidFill>
                  <a:srgbClr val="677173"/>
                </a:solidFill>
                <a:latin typeface="Microsoft YaHei" panose="020B0503020204020204" pitchFamily="34" charset="-122"/>
              </a:rPr>
              <a:t>一物一码防伪溯源</a:t>
            </a:r>
            <a:r>
              <a:rPr lang="en-US" altLang="zh-CN" sz="650">
                <a:solidFill>
                  <a:srgbClr val="677173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650">
                <a:solidFill>
                  <a:srgbClr val="677173"/>
                </a:solidFill>
                <a:latin typeface="Microsoft YaHei" panose="020B0503020204020204" pitchFamily="34" charset="-122"/>
              </a:rPr>
              <a:t>防窜货方案公开资料；药品追溯管理实践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1845</Words>
  <Application>Microsoft Office PowerPoint</Application>
  <PresentationFormat>全屏显示(16:9)</PresentationFormat>
  <Paragraphs>241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LILY XU</cp:lastModifiedBy>
  <cp:revision>14</cp:revision>
  <dcterms:created xsi:type="dcterms:W3CDTF">2026-05-13T10:28:20Z</dcterms:created>
  <dcterms:modified xsi:type="dcterms:W3CDTF">2026-05-25T10:06:28Z</dcterms:modified>
</cp:coreProperties>
</file>