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中国宠物市场规模（亿元）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市场规模(亿元)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2025E</c:v>
                  </c:pt>
                  <c:pt idx="4">
                    <c:v>2026E</c:v>
                  </c:pt>
                  <c:pt idx="5">
                    <c:v>2027E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2200</c:v>
                </c:pt>
                <c:pt idx="1">
                  <c:v>2500</c:v>
                </c:pt>
                <c:pt idx="2">
                  <c:v>2800</c:v>
                </c:pt>
                <c:pt idx="3">
                  <c:v>3150</c:v>
                </c:pt>
                <c:pt idx="4">
                  <c:v>3500</c:v>
                </c:pt>
                <c:pt idx="5">
                  <c:v>4000</c:v>
                </c:pt>
                <c:pt idx="6">
                  <c:v>5600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驱虫药品类结构（市场份额）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体内驱虫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bubble3D val="0"/>
            <c:spPr>
              <a:solidFill>
                <a:srgbClr val="E850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体内驱虫</c:v>
                </c:pt>
                <c:pt idx="1">
                  <c:v>体外驱虫</c:v>
                </c:pt>
                <c:pt idx="2">
                  <c:v>内外同驱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35</c:v>
                </c:pt>
                <c:pt idx="2">
                  <c:v>35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6E6E">
              <a:alpha val="30000"/>
            </a:srgbClr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E8505B">
              <a:alpha val="25000"/>
            </a:srgbClr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中国宠物驱虫药市场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战略分析 2025-2030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2860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54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增长机会识别与可执行业务策略建议 | 勃林格殷格翰中国宠物团队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64008" cy="1115568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95097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市场高速增长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3167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驱虫药市场~100亿元，CAGR 15-18%，猫是最大增量来源（数量超狗，增速更快）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23160" y="841248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841248"/>
            <a:ext cx="64008" cy="11155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9784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81528" y="95097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内外同驱是核心赛道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06040" y="13167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内外同驱CAGR 20%+，依从性提升30%+，BI超可信是品类标杆，应作为战略核心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26280" y="841248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26280" y="841248"/>
            <a:ext cx="64008" cy="111556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784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95097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猫用滴剂为突破口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09160" y="13167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猫数量7,200万，室内猫占70%+但驱虫率仅~20%，教育空间大，滴剂最适配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629400" y="841248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841248"/>
            <a:ext cx="64008" cy="1115568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97840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87768" y="95097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电商是销售主战场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12280" y="13167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电商占~55%份额且增速20%+，策略：内容种草×搜索卡位×会员复购三合一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" y="2084832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2084832"/>
            <a:ext cx="64008" cy="1115568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22199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40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宠物医院是教育主阵地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02920" y="256032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兽医推荐是消费者购买驱虫药最重要信任来源，需持续投入兽医学术教育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423160" y="2084832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23160" y="2084832"/>
            <a:ext cx="64008" cy="1115568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2221992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8152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复购率提升=核心竞争力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2606040" y="256032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规律驱虫率当前~40-50%，目标~70%；复购率每提升5%，LTV提升20%+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26280" y="2084832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26280" y="2084832"/>
            <a:ext cx="64008" cy="1115568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221992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8464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高端价格带仍有溢价空间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4709160" y="256032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25-30%消费者愿为安全性+便捷性支付20-50%溢价，BI应保持高端定位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629400" y="2084832"/>
            <a:ext cx="1993392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629400" y="2084832"/>
            <a:ext cx="64008" cy="1115568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2221992"/>
            <a:ext cx="365760" cy="3657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28776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下沉市场是下一个增长极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6812280" y="256032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T3/T4城市宠物增速&gt;10%，但品牌渗透薄弱，本土品牌低价已抢占先机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一、市场趋势总览 | 宏观宠物市场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41248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434840" y="841248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44568" y="896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2,800亿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44568" y="1133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2024市场规模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9509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元，CAGR~12%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34840" y="1481328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44568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1.3亿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44568" y="1773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宠物总数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60720" y="15910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只，增速~4%/年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434840" y="2121408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44568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~100亿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44568" y="2414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60720" y="22311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出厂口径，CAGR 15-18%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34840" y="2761488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44568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7,200万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44568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60720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超狗，增速~8%/年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456432"/>
            <a:ext cx="19933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456432"/>
            <a:ext cx="64008" cy="914400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93592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78408" y="35661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城镇化+独居人口增加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02920" y="3931920"/>
            <a:ext cx="16733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2024城镇化率~65%，独居人口~9,200万，养宠需求持续扩容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423160" y="3456432"/>
            <a:ext cx="19933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423160" y="3456432"/>
            <a:ext cx="64008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593592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081528" y="35661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预防医学意识崛起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2606040" y="3931920"/>
            <a:ext cx="16733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科学养宠主流化，从「治病」到「防病」，季度驱虫成中产标配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526280" y="3456432"/>
            <a:ext cx="19933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26280" y="3456432"/>
            <a:ext cx="64008" cy="9144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593592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84648" y="35661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消费支出高端化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709160" y="3931920"/>
            <a:ext cx="16733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单宠年均消费3,000-6,000元，医疗占比20-30%，驱虫支出空间大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629400" y="3456432"/>
            <a:ext cx="19933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629400" y="3456432"/>
            <a:ext cx="64008" cy="91440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593592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287768" y="35661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宠物医院快速扩张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6812280" y="3931920"/>
            <a:ext cx="16733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全国20,000+宠物诊所，连锁医院（新瑞鹏等）加速布局，教育触点增加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三、猫 vs 狗市场趋势对比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023360" cy="457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0525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(Cat)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4023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数量（2024）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7,200万只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CAGR（2024-2030）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室内猫比例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主人年龄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25-35岁占60%+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线上购买倾向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80%+ 线上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年均驱虫支出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200-400元/只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核心误区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「不出门不驱虫」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最佳剂型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滴剂（外用）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841248"/>
            <a:ext cx="4023360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05256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 (Dog)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53312"/>
          <a:ext cx="4023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数量（2024）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5,800万只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CAGR（2024-2030）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户外暴露场景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高（每日遛狗）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主人年龄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30-45岁占55%+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兽医依赖度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年均驱虫支出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300-600元/只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寄生虫风险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蜱虫/心丝虫高发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最佳剂型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咀嚼片+滴剂并重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320040" y="3749040"/>
            <a:ext cx="850392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9"/>
          <p:cNvSpPr/>
          <p:nvPr/>
        </p:nvSpPr>
        <p:spPr>
          <a:xfrm>
            <a:off x="50292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战略建议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2920" y="40965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猫：室内猫专属驱虫方案 + 滴剂为主 + 线上内容营销   |   狗：口服+滴剂并重 + 兽医推荐主导   |   结论：BI应采取「猫用滴剂优先，犬用口服+滴剂并重」策略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四、驱虫药市场核心增长驱动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41248"/>
          <a:ext cx="32004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749040" y="841248"/>
            <a:ext cx="171907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49040" y="841248"/>
            <a:ext cx="64008" cy="18288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9784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7408" y="950976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D1. 宠物数量增长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31920" y="1316736"/>
            <a:ext cx="13990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贡献~40%市场增量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2024-2030净增猫狗5,000-6,000万只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新增主人预防意识更强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532120" y="841248"/>
            <a:ext cx="171907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32120" y="841248"/>
            <a:ext cx="64008" cy="1828800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9784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0488" y="950976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D2. 单宠消费提升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715000" y="1316736"/>
            <a:ext cx="13990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贡献~35%市场增量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预防医学意识崛起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高端化趋势：愿为便捷安全溢价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15200" y="841248"/>
            <a:ext cx="171907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0" y="841248"/>
            <a:ext cx="64008" cy="182880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9784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73568" y="950976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D3. 驱虫频次提升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498080" y="1316736"/>
            <a:ext cx="13990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贡献~25%市场增量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规律驱虫率：40-50%→70%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兽医教育×数字提醒是关键杠杆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剂型对比与场景适配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27248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剂型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劣势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最佳场景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滴剂（Spot-on）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使用方便，持续1个月，猫接受度高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需分开颈背，长毛稍麻烦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猫、室内犬★★★★★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口服片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剂量精准，可包食物中，适合狗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猫给药困难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咀嚼片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狗接受度高（像零食）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猫不适用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狗（尤其大型犬）★★★☆☆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内外同驱滴剂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同时驱杀体内外，依从性最高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价格较高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首选推荐，所有场景★★★★★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320040" y="4160520"/>
            <a:ext cx="8503920" cy="292608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26" name="Text 19"/>
          <p:cNvSpPr/>
          <p:nvPr/>
        </p:nvSpPr>
        <p:spPr>
          <a:xfrm>
            <a:off x="457200" y="4187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消费者购买核心因素：①安全性 ★★★★★  ②有效性 ★★★★★  ③使用便捷 ★★★★  ④品牌信任 ★★★★  ⑤价格 ★★★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五、细分机会优先级判断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914400"/>
                <a:gridCol w="100584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细分市场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壁垒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猫用驱虫药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5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幼宠驱虫（3-12月龄）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5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室内猫专属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5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高端价格带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高线城市（T1/T2）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多宠家庭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犬用驱虫药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首次养宠人群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下沉市场（T3/T4）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743200"/>
            <a:ext cx="4023360" cy="1645920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2743200"/>
            <a:ext cx="64008" cy="1645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34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P0核心洞察：猫市场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321868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室内猫「不出门不驱虫」误区是最大认知缺口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猫数量超狗+增速更快+消费年轻化+线上化程度高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猫咪喂药难→滴剂是最优解→BI博来恩猫用滴剂应重点推广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幼宠期建立驱虫习惯→锁定3-5年LTV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2743200"/>
            <a:ext cx="4251960" cy="164592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2743200"/>
            <a:ext cx="64008" cy="1645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8346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P1/P2延伸机会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54880" y="321868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高端价格带（&gt;300元/3支）：维持溢价形象，不参与价格战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多宠家庭：「家庭装多支优惠」提升客单价和复购率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首次养宠人群：医院首购→电商复购闭环是关键路径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下沉市场：O2O小规格渗透，不急于建立直营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六、渠道策略建议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08483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2084832" cy="502920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0525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 份额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20%+ YoY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" y="1664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销售主战场×品牌建设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9768" y="1938528"/>
            <a:ext cx="1874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1993392"/>
            <a:ext cx="19385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内容种草（小红书/抖音）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搜索卡位（SEM/SEO）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会员复购体系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多宠家庭精准推送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96312" y="841248"/>
            <a:ext cx="208483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96312" y="841248"/>
            <a:ext cx="2084832" cy="5029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9052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7180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60604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 份额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47872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5-8% YoY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06040" y="1664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教育主阵地×首购来源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606040" y="1938528"/>
            <a:ext cx="1874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9464" y="1993392"/>
            <a:ext cx="19385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CVTD学术会议赞助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兽医产品培训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幼宠首购合作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数字化驱虫档案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72584" y="841248"/>
            <a:ext cx="208483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72584" y="841248"/>
            <a:ext cx="2084832" cy="50292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905256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48072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宠物店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82312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份额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724144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持平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782312" y="1664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补充渠道×即时购买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782312" y="1938528"/>
            <a:ext cx="1874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45736" y="1993392"/>
            <a:ext cx="19385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社区覆盖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即时购买场景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配合O2O配送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848856" y="841248"/>
            <a:ext cx="208483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48856" y="841248"/>
            <a:ext cx="2084832" cy="50292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905256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24344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O2O平台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958584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 份额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900416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YoY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58584" y="1664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即时需求×下沉渗透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958584" y="1938528"/>
            <a:ext cx="1874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22008" y="1993392"/>
            <a:ext cx="19385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美团/饿了么接入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30分钟紧急补购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下沉市场主力渠道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320040" y="3246120"/>
            <a:ext cx="8503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37"/>
          <p:cNvSpPr/>
          <p:nvPr/>
        </p:nvSpPr>
        <p:spPr>
          <a:xfrm>
            <a:off x="50292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渠道策略核心框架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02920" y="35844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教育渠道（兽医）：建立信任和专业背书 → 首购转化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转化渠道（电商）：内容种草 + 搜索卡位 → 直接销售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复购渠道（电商+O2O）：会员积分 + 数字提醒 + 即时配送 → 留存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七、产品与品牌策略建议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029200" cy="320040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产品组合策略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188720"/>
                <a:gridCol w="164592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目标人群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内外同驱滴剂（超可信）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高端标杆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高线城市、品质导向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猫用专用滴剂（博来恩）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高端细分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200-350元/3支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室内猫主人、年轻用户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犬用口服/咀嚼片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中高端补充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150-280元/3支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犬主人、兽医推荐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家庭装多支优惠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高端量大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800-1200元/12支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多宠家庭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入门体验装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中端引流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80-120元/1支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首次用户、下沉市场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841248"/>
            <a:ext cx="32461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841248"/>
            <a:ext cx="64008" cy="91440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9326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优先推动「内外同驱」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26480" y="12435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依从性提升30%+，1次顶2次，BI超可信是品类标杆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577840" y="1847088"/>
            <a:ext cx="32461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77840" y="1847088"/>
            <a:ext cx="64008" cy="9144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93852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938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猫用滴剂为突破口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26480" y="22494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博来恩猫用滴剂新规格（家庭装）+ 室内猫专属方案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577840" y="2852928"/>
            <a:ext cx="32461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77840" y="2852928"/>
            <a:ext cx="64008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443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兽医端学术教育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126480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CVTD赞助×产品培训×临床数据支持×数字化工具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577840" y="3858768"/>
            <a:ext cx="32461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577840" y="3858768"/>
            <a:ext cx="64008" cy="914400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95020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26480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消费者复购闭环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126480" y="42611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小程序驱虫日历×电商会员×季度复购提醒×多宠家庭装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0040" y="3310128"/>
            <a:ext cx="8503920" cy="10058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3"/>
          <p:cNvSpPr/>
          <p:nvPr/>
        </p:nvSpPr>
        <p:spPr>
          <a:xfrm>
            <a:off x="320040" y="3310128"/>
            <a:ext cx="850392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3337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定价带布局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11480" y="3630168"/>
            <a:ext cx="1965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505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4632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84632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&gt;300元/3支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84632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维持溢价，赠品替代降价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2514600" y="3630168"/>
            <a:ext cx="1965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587752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中高端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2587752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200-300元/3支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2587752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限时满减，不直接打折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617720" y="3630168"/>
            <a:ext cx="1965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6E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690872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中端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4690872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100-200元/3支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690872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首购优惠+小规格入门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720840" y="3630168"/>
            <a:ext cx="1965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793992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经济型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6793992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&lt;100元/3支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6793992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暂不开发，严控渠道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八、2025-2030 分阶段路线图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71323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48840"/>
            <a:ext cx="2560320" cy="347472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建立壁垒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25420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猫用内外同驱滴剂新规格上市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兽医继续教育计划启动（CVTD）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抖音/小红书内容营销上线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BI宠物健康小程序驱虫日历上线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幼宠首购合作项目启动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3840480"/>
            <a:ext cx="2377440" cy="201168"/>
          </a:xfrm>
          <a:prstGeom prst="rect">
            <a:avLst/>
          </a:prstGeom>
          <a:solidFill>
            <a:srgbClr val="E8505B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市场份额+3pct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31920" y="1280160"/>
            <a:ext cx="365760" cy="3657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8" name="Text 15"/>
          <p:cNvSpPr/>
          <p:nvPr/>
        </p:nvSpPr>
        <p:spPr>
          <a:xfrm>
            <a:off x="356616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2027-2028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66160" y="1892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291840" y="214884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91840" y="2148840"/>
            <a:ext cx="2560320" cy="347472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19456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0332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扩大份额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83280" y="25420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下沉市场O2O渠道全面接入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室内猫专属产品线上市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会员年度订阅模式试点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多宠家庭年度装推出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猫用驱虫药成为品类NO.2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383280" y="3840480"/>
            <a:ext cx="2377440" cy="201168"/>
          </a:xfrm>
          <a:prstGeom prst="rect">
            <a:avLst/>
          </a:prstGeom>
          <a:solidFill>
            <a:srgbClr val="D4A853">
              <a:alpha val="15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38328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会员复购率50%+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949440" y="1280160"/>
            <a:ext cx="365760" cy="36576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28" name="Text 24"/>
          <p:cNvSpPr/>
          <p:nvPr/>
        </p:nvSpPr>
        <p:spPr>
          <a:xfrm>
            <a:off x="658368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2029-2030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583680" y="1892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309360" y="214884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9360" y="2148840"/>
            <a:ext cx="2560320" cy="347472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1945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2084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生态主导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400800" y="25420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AI个性化驱虫提醒上线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宠物预防健康全品类扩展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中国市场份额达25%+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建立中国最大宠物预防医疗生态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400800" y="3840480"/>
            <a:ext cx="2377440" cy="201168"/>
          </a:xfrm>
          <a:prstGeom prst="rect">
            <a:avLst/>
          </a:prstGeom>
          <a:solidFill>
            <a:srgbClr val="0D6E6E">
              <a:alpha val="15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640080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市场领导者地位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九、关键风险与应对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86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886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886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应对策略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207008"/>
            <a:ext cx="8503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207008"/>
            <a:ext cx="54864" cy="566928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本土品牌低价抢占下沉市场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7560" y="134416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8505B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23360" y="134416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18" name="Text 15"/>
          <p:cNvSpPr/>
          <p:nvPr/>
        </p:nvSpPr>
        <p:spPr>
          <a:xfrm>
            <a:off x="4023360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09160" y="12801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暂不跟进价格战，聚焦品质和教育；O2O小规格渗透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1810512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20040" y="1810512"/>
            <a:ext cx="54864" cy="566928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9384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296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消费者价格敏感度上升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194767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25" name="Text 21"/>
          <p:cNvSpPr/>
          <p:nvPr/>
        </p:nvSpPr>
        <p:spPr>
          <a:xfrm>
            <a:off x="3337560" y="1947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023360" y="194767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8505B"/>
          </a:solidFill>
          <a:ln/>
        </p:spPr>
      </p:sp>
      <p:sp>
        <p:nvSpPr>
          <p:cNvPr id="27" name="Text 23"/>
          <p:cNvSpPr/>
          <p:nvPr/>
        </p:nvSpPr>
        <p:spPr>
          <a:xfrm>
            <a:off x="4023360" y="1947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09160" y="18836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推出入门体验装和会员优惠，不牺牲高端品牌形象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20040" y="2414016"/>
            <a:ext cx="8503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6"/>
          <p:cNvSpPr/>
          <p:nvPr/>
        </p:nvSpPr>
        <p:spPr>
          <a:xfrm>
            <a:off x="320040" y="2414016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22960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兽医渠道话语权下降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337560" y="255117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34" name="Text 29"/>
          <p:cNvSpPr/>
          <p:nvPr/>
        </p:nvSpPr>
        <p:spPr>
          <a:xfrm>
            <a:off x="3337560" y="2551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023360" y="255117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36" name="Text 31"/>
          <p:cNvSpPr/>
          <p:nvPr/>
        </p:nvSpPr>
        <p:spPr>
          <a:xfrm>
            <a:off x="4023360" y="2551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4709160" y="24871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强化兽医专业教育价值，同时加大电商私域触达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20040" y="3017520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4"/>
          <p:cNvSpPr/>
          <p:nvPr/>
        </p:nvSpPr>
        <p:spPr>
          <a:xfrm>
            <a:off x="320040" y="3017520"/>
            <a:ext cx="54864" cy="566928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36392"/>
            <a:ext cx="292608" cy="29260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2296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电商平台流量成本持续上涨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337560" y="31546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8505B"/>
          </a:solidFill>
          <a:ln/>
        </p:spPr>
      </p:sp>
      <p:sp>
        <p:nvSpPr>
          <p:cNvPr id="43" name="Text 37"/>
          <p:cNvSpPr/>
          <p:nvPr/>
        </p:nvSpPr>
        <p:spPr>
          <a:xfrm>
            <a:off x="3337560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023360" y="31546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45" name="Text 39"/>
          <p:cNvSpPr/>
          <p:nvPr/>
        </p:nvSpPr>
        <p:spPr>
          <a:xfrm>
            <a:off x="4023360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4709160" y="30906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发展私域（微信小程序、会员体系）降低对付费流量依赖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320040" y="3621024"/>
            <a:ext cx="8503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2"/>
          <p:cNvSpPr/>
          <p:nvPr/>
        </p:nvSpPr>
        <p:spPr>
          <a:xfrm>
            <a:off x="320040" y="3621024"/>
            <a:ext cx="54864" cy="566928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39896"/>
            <a:ext cx="292608" cy="29260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822960" y="3712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新进入者跨界推出驱虫新品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3337560" y="375818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52" name="Text 45"/>
          <p:cNvSpPr/>
          <p:nvPr/>
        </p:nvSpPr>
        <p:spPr>
          <a:xfrm>
            <a:off x="3337560" y="37581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023360" y="375818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4A853"/>
          </a:solidFill>
          <a:ln/>
        </p:spPr>
      </p:sp>
      <p:sp>
        <p:nvSpPr>
          <p:cNvPr id="54" name="Text 47"/>
          <p:cNvSpPr/>
          <p:nvPr/>
        </p:nvSpPr>
        <p:spPr>
          <a:xfrm>
            <a:off x="4023360" y="37581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4709160" y="36941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加快产品迭代，保持技术领先优势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0"/>
          <p:cNvSpPr/>
          <p:nvPr/>
        </p:nvSpPr>
        <p:spPr>
          <a:xfrm>
            <a:off x="320040" y="4224528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43400"/>
            <a:ext cx="292608" cy="292608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82296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猫咪数量增长低于预期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3337560" y="436168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</p:sp>
      <p:sp>
        <p:nvSpPr>
          <p:cNvPr id="61" name="Text 53"/>
          <p:cNvSpPr/>
          <p:nvPr/>
        </p:nvSpPr>
        <p:spPr>
          <a:xfrm>
            <a:off x="3337560" y="4361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4023360" y="436168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8505B"/>
          </a:solidFill>
          <a:ln/>
        </p:spPr>
      </p:sp>
      <p:sp>
        <p:nvSpPr>
          <p:cNvPr id="63" name="Text 55"/>
          <p:cNvSpPr/>
          <p:nvPr/>
        </p:nvSpPr>
        <p:spPr>
          <a:xfrm>
            <a:off x="4023360" y="4361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64" name="Text 56"/>
          <p:cNvSpPr/>
          <p:nvPr/>
        </p:nvSpPr>
        <p:spPr>
          <a:xfrm>
            <a:off x="4709160" y="42976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可快速切换加大犬用产品推广资源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十、一页PPT式总结 | 中国宠物驱虫药市场战略 2025-2030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BI中国宠物团队 | 宠物驱虫药战略分析 2025-2030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86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BI中国宠物团队 | 驱虫药战略 | 2025-2030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25880"/>
            <a:ext cx="64008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市场窗口：100亿→200亿+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17647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15-18%，猫是最大增量来源（7,200万只，~8%增速）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54680" y="132588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1325880"/>
            <a:ext cx="64008" cy="91440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1732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产品核心：内外同驱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91840" y="17647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BI超可信品类标杆，依从性提升30%+，CAGR 20%+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89320" y="132588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89320" y="1325880"/>
            <a:ext cx="64008" cy="9144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突破口：猫用滴剂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26480" y="17647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室内猫误区最大教育空间，滴剂最适配，增速最高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20040" y="233172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2331720"/>
            <a:ext cx="64008" cy="914400"/>
          </a:xfrm>
          <a:prstGeom prst="rect">
            <a:avLst/>
          </a:prstGeom>
          <a:solidFill>
            <a:srgbClr val="0D6E6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2316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渠道：电商55%+医院25%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27706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电商内容种草+搜索卡位+会员复购；医院教育主阵地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54680" y="233172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54680" y="2331720"/>
            <a:ext cx="64008" cy="914400"/>
          </a:xfrm>
          <a:prstGeom prst="rect">
            <a:avLst/>
          </a:prstGeom>
          <a:solidFill>
            <a:srgbClr val="E8505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42316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5760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复购：LTV提升关键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291840" y="27706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规律驱虫40-50%→70%；复购率每+5%，LTV+20%+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89320" y="2331720"/>
            <a:ext cx="272491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989320" y="2331720"/>
            <a:ext cx="64008" cy="914400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42316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9224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品牌：高端溢价定位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6126480" y="27706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不参与价格战；高端价格带维持溢价+中端入门引流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20040" y="3383280"/>
            <a:ext cx="8503920" cy="292608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40" name="Text 32"/>
          <p:cNvSpPr/>
          <p:nvPr/>
        </p:nvSpPr>
        <p:spPr>
          <a:xfrm>
            <a:off x="457200" y="3410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2026年行动重点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411480" y="3730752"/>
            <a:ext cx="20116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84632" y="37490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猫用内外同驱滴剂新规格（家庭装）上市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532888" y="3730752"/>
            <a:ext cx="20116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606040" y="37490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「幼宠首次驱虫」医院合作项目启动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4654296" y="3730752"/>
            <a:ext cx="20116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4727448" y="37490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小红书/抖音「科学驱虫」内容营销上线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6775704" y="3730752"/>
            <a:ext cx="20116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848856" y="37490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BI宠物健康小程序驱虫日历正式上线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320040" y="4279392"/>
            <a:ext cx="850392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0" name="Text 42"/>
          <p:cNvSpPr/>
          <p:nvPr/>
        </p:nvSpPr>
        <p:spPr>
          <a:xfrm>
            <a:off x="411480" y="43159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关键KPI：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1554480" y="431596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2026年底市场份额+3pct  |  2028年底猫用驱虫药品类NO.2  |  2030年底复购用户比例55%+  |  2030年市场份额25%+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中国宠物驱虫药市场战略分析 2025-2030</dc:title>
  <dc:subject>PptxGenJS Presentation</dc:subject>
  <dc:creator>BI中国宠物团队</dc:creator>
  <cp:lastModifiedBy>BI中国宠物团队</cp:lastModifiedBy>
  <cp:revision>1</cp:revision>
  <dcterms:created xsi:type="dcterms:W3CDTF">2026-05-06T02:47:34Z</dcterms:created>
  <dcterms:modified xsi:type="dcterms:W3CDTF">2026-05-06T02:47:34Z</dcterms:modified>
</cp:coreProperties>
</file>